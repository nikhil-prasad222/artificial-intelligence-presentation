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29" r:id="rId1"/>
  </p:sldMasterIdLst>
  <p:notesMasterIdLst>
    <p:notesMasterId r:id="rId17"/>
  </p:notesMasterIdLst>
  <p:sldIdLst>
    <p:sldId id="256" r:id="rId2"/>
    <p:sldId id="257" r:id="rId3"/>
    <p:sldId id="271" r:id="rId4"/>
    <p:sldId id="258" r:id="rId5"/>
    <p:sldId id="268" r:id="rId6"/>
    <p:sldId id="272" r:id="rId7"/>
    <p:sldId id="261" r:id="rId8"/>
    <p:sldId id="263" r:id="rId9"/>
    <p:sldId id="267" r:id="rId10"/>
    <p:sldId id="265" r:id="rId11"/>
    <p:sldId id="270" r:id="rId12"/>
    <p:sldId id="269" r:id="rId13"/>
    <p:sldId id="275" r:id="rId14"/>
    <p:sldId id="274" r:id="rId15"/>
    <p:sldId id="273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1594" y="6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99385CF-A1C1-4DAC-AC73-3CEDB59B1ED7}" type="datetimeFigureOut">
              <a:rPr lang="en-US" smtClean="0"/>
              <a:t>7/6/2025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EED171D-8282-4D7B-AE2B-88C377D697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46296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>
                <a:solidFill>
                  <a:prstClr val="black"/>
                </a:solidFill>
              </a:rPr>
              <a:pPr/>
              <a:t>7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>
                <a:solidFill>
                  <a:prstClr val="black"/>
                </a:solidFill>
              </a:rPr>
              <a:pPr/>
              <a:t>8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347" y="1122363"/>
            <a:ext cx="7773308" cy="2387600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5347" y="3602038"/>
            <a:ext cx="7773308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3BA471-11D6-48C7-983D-6ED2BDE7F018}" type="datetimeFigureOut">
              <a:rPr lang="en-US" smtClean="0"/>
              <a:t>7/6/2025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C88118-65CA-4FBB-89E6-5584A40830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72462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3BA471-11D6-48C7-983D-6ED2BDE7F018}" type="datetimeFigureOut">
              <a:rPr lang="en-US" smtClean="0"/>
              <a:t>7/6/2025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C88118-65CA-4FBB-89E6-5584A40830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2971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21933" y="657227"/>
            <a:ext cx="7300134" cy="2852737"/>
          </a:xfrm>
        </p:spPr>
        <p:txBody>
          <a:bodyPr anchor="b">
            <a:normAutofit/>
          </a:bodyPr>
          <a:lstStyle>
            <a:lvl1pPr>
              <a:defRPr sz="3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21933" y="3602039"/>
            <a:ext cx="7300134" cy="1500187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3BA471-11D6-48C7-983D-6ED2BDE7F018}" type="datetimeFigureOut">
              <a:rPr lang="en-US" smtClean="0"/>
              <a:t>7/6/2025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C88118-65CA-4FBB-89E6-5584A40830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16558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47" y="609601"/>
            <a:ext cx="7765321" cy="132632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346" y="2088320"/>
            <a:ext cx="3829503" cy="370288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30052" y="2088320"/>
            <a:ext cx="3820616" cy="370288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3BA471-11D6-48C7-983D-6ED2BDE7F018}" type="datetimeFigureOut">
              <a:rPr lang="en-US" smtClean="0"/>
              <a:t>7/6/2025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C88118-65CA-4FBB-89E6-5584A40830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77848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47" y="609601"/>
            <a:ext cx="7765321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5427" y="2088320"/>
            <a:ext cx="3600326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346" y="2912232"/>
            <a:ext cx="3830406" cy="287896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59230" y="2088320"/>
            <a:ext cx="3591437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912232"/>
            <a:ext cx="3821518" cy="287896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3BA471-11D6-48C7-983D-6ED2BDE7F018}" type="datetimeFigureOut">
              <a:rPr lang="en-US" smtClean="0"/>
              <a:t>7/6/2025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C88118-65CA-4FBB-89E6-5584A40830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77664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3BA471-11D6-48C7-983D-6ED2BDE7F018}" type="datetimeFigureOut">
              <a:rPr lang="en-US" smtClean="0"/>
              <a:t>7/6/2025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C88118-65CA-4FBB-89E6-5584A40830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23076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3BA471-11D6-48C7-983D-6ED2BDE7F018}" type="datetimeFigureOut">
              <a:rPr lang="en-US" smtClean="0"/>
              <a:t>7/6/2025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C88118-65CA-4FBB-89E6-5584A40830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17570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7921" y="609600"/>
            <a:ext cx="2949178" cy="2362200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08548" y="609600"/>
            <a:ext cx="4642119" cy="5181600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7921" y="2971801"/>
            <a:ext cx="2949178" cy="2819399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3BA471-11D6-48C7-983D-6ED2BDE7F018}" type="datetimeFigureOut">
              <a:rPr lang="en-US" smtClean="0"/>
              <a:t>7/6/2025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C88118-65CA-4FBB-89E6-5584A40830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84249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7921" y="609600"/>
            <a:ext cx="4167603" cy="2362200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249932" y="758881"/>
            <a:ext cx="2966938" cy="4883038"/>
          </a:xfrm>
          <a:noFill/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46" y="2971800"/>
            <a:ext cx="4171242" cy="28194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3BA471-11D6-48C7-983D-6ED2BDE7F018}" type="datetimeFigureOut">
              <a:rPr lang="en-US" smtClean="0"/>
              <a:t>7/6/2025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C88118-65CA-4FBB-89E6-5584A40830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13020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55" y="4289373"/>
            <a:ext cx="7775673" cy="819355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5355" y="621322"/>
            <a:ext cx="7775673" cy="3379735"/>
          </a:xfrm>
          <a:noFill/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46" y="5108728"/>
            <a:ext cx="7774499" cy="682472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3BA471-11D6-48C7-983D-6ED2BDE7F018}" type="datetimeFigureOut">
              <a:rPr lang="en-US" smtClean="0"/>
              <a:t>7/6/2025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C88118-65CA-4FBB-89E6-5584A40830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45305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46" y="609601"/>
            <a:ext cx="7765322" cy="3424859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47" y="4204820"/>
            <a:ext cx="7765321" cy="159218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3BA471-11D6-48C7-983D-6ED2BDE7F018}" type="datetimeFigureOut">
              <a:rPr lang="en-US" smtClean="0"/>
              <a:t>7/6/2025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C88118-65CA-4FBB-89E6-5584A40830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446940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4659" y="609600"/>
            <a:ext cx="6977064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290484" y="3610032"/>
            <a:ext cx="6564224" cy="426812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45" y="4204821"/>
            <a:ext cx="7765322" cy="1586380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3BA471-11D6-48C7-983D-6ED2BDE7F018}" type="datetimeFigureOut">
              <a:rPr lang="en-US" smtClean="0"/>
              <a:t>7/6/2025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C88118-65CA-4FBB-89E6-5584A4083068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TextBox 9"/>
          <p:cNvSpPr txBox="1"/>
          <p:nvPr/>
        </p:nvSpPr>
        <p:spPr>
          <a:xfrm>
            <a:off x="505245" y="641749"/>
            <a:ext cx="4572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46721" y="3073376"/>
            <a:ext cx="4572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30455065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55" y="2126943"/>
            <a:ext cx="7766495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46" y="4650556"/>
            <a:ext cx="7765322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3BA471-11D6-48C7-983D-6ED2BDE7F018}" type="datetimeFigureOut">
              <a:rPr lang="en-US" smtClean="0"/>
              <a:t>7/6/2025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C88118-65CA-4FBB-89E6-5584A40830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714940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685345" y="609601"/>
            <a:ext cx="7765322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85346" y="2088320"/>
            <a:ext cx="2474217" cy="823305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5346" y="2911624"/>
            <a:ext cx="2474217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33658" y="2088320"/>
            <a:ext cx="2473919" cy="823304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3333659" y="2911624"/>
            <a:ext cx="2474866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79974" y="2088320"/>
            <a:ext cx="2468408" cy="823304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5982260" y="2911624"/>
            <a:ext cx="2468408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3BA471-11D6-48C7-983D-6ED2BDE7F018}" type="datetimeFigureOut">
              <a:rPr lang="en-US" smtClean="0"/>
              <a:t>7/6/2025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C88118-65CA-4FBB-89E6-5584A40830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877628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685346" y="609601"/>
            <a:ext cx="7765322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5347" y="3989147"/>
            <a:ext cx="2474216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819015" y="2092235"/>
            <a:ext cx="2205038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5347" y="4565409"/>
            <a:ext cx="2474216" cy="1225792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32026" y="3989147"/>
            <a:ext cx="2474237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426747" y="2092235"/>
            <a:ext cx="2197894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331011" y="4565408"/>
            <a:ext cx="2475252" cy="1225792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80067" y="3989147"/>
            <a:ext cx="2467425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6114603" y="2092235"/>
            <a:ext cx="2199085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5979973" y="4565410"/>
            <a:ext cx="2470694" cy="122579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3BA471-11D6-48C7-983D-6ED2BDE7F018}" type="datetimeFigureOut">
              <a:rPr lang="en-US" smtClean="0"/>
              <a:t>7/6/2025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C88118-65CA-4FBB-89E6-5584A40830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243234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3BA471-11D6-48C7-983D-6ED2BDE7F018}" type="datetimeFigureOut">
              <a:rPr lang="en-US" smtClean="0"/>
              <a:t>7/6/2025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C88118-65CA-4FBB-89E6-5584A40830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285908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609600"/>
            <a:ext cx="1906993" cy="51816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346" y="609600"/>
            <a:ext cx="5744029" cy="51816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3BA471-11D6-48C7-983D-6ED2BDE7F018}" type="datetimeFigureOut">
              <a:rPr lang="en-US" smtClean="0"/>
              <a:t>7/6/2025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C88118-65CA-4FBB-89E6-5584A40830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170109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7506870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1808952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60432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347" y="609601"/>
            <a:ext cx="7765321" cy="132632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346" y="2096064"/>
            <a:ext cx="7765322" cy="36951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759052" y="5883276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E3BA471-11D6-48C7-983D-6ED2BDE7F018}" type="datetimeFigureOut">
              <a:rPr lang="en-US" smtClean="0"/>
              <a:t>7/6/2025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346" y="5883276"/>
            <a:ext cx="500464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885509" y="5883276"/>
            <a:ext cx="56515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4C88118-65CA-4FBB-89E6-5584A40830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894398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830" r:id="rId1"/>
    <p:sldLayoutId id="2147483831" r:id="rId2"/>
    <p:sldLayoutId id="2147483832" r:id="rId3"/>
    <p:sldLayoutId id="2147483833" r:id="rId4"/>
    <p:sldLayoutId id="2147483834" r:id="rId5"/>
    <p:sldLayoutId id="2147483835" r:id="rId6"/>
    <p:sldLayoutId id="2147483836" r:id="rId7"/>
    <p:sldLayoutId id="2147483837" r:id="rId8"/>
    <p:sldLayoutId id="2147483838" r:id="rId9"/>
    <p:sldLayoutId id="2147483839" r:id="rId10"/>
    <p:sldLayoutId id="2147483840" r:id="rId11"/>
    <p:sldLayoutId id="2147483841" r:id="rId12"/>
    <p:sldLayoutId id="2147483842" r:id="rId13"/>
    <p:sldLayoutId id="2147483843" r:id="rId14"/>
    <p:sldLayoutId id="2147483844" r:id="rId15"/>
    <p:sldLayoutId id="2147483845" r:id="rId16"/>
    <p:sldLayoutId id="2147483846" r:id="rId17"/>
    <p:sldLayoutId id="2147483847" r:id="rId18"/>
    <p:sldLayoutId id="2147483848" r:id="rId19"/>
    <p:sldLayoutId id="2147483849" r:id="rId20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400" b="1" i="0" kern="1200" cap="all">
          <a:solidFill>
            <a:schemeClr val="tx1"/>
          </a:solidFill>
          <a:effectLst>
            <a:outerShdw blurRad="50800" dist="63500" dir="2700000" algn="tl" rotWithShape="0">
              <a:srgbClr val="000000">
                <a:alpha val="48000"/>
              </a:srgbClr>
            </a:outerShdw>
          </a:effectLst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10" Type="http://schemas.openxmlformats.org/officeDocument/2006/relationships/image" Target="../media/image10.png"/><Relationship Id="rId4" Type="http://schemas.openxmlformats.org/officeDocument/2006/relationships/image" Target="../media/image4.png"/><Relationship Id="rId9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9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0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19.xml"/><Relationship Id="rId4" Type="http://schemas.openxmlformats.org/officeDocument/2006/relationships/image" Target="../media/image18.jpe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362200"/>
            <a:ext cx="7772400" cy="1466850"/>
          </a:xfrm>
        </p:spPr>
        <p:txBody>
          <a:bodyPr>
            <a:normAutofit/>
          </a:bodyPr>
          <a:lstStyle/>
          <a:p>
            <a:r>
              <a:rPr lang="en-US" dirty="0"/>
              <a:t>Introduction to Machine Learning</a:t>
            </a:r>
          </a:p>
        </p:txBody>
      </p:sp>
    </p:spTree>
    <p:extLst>
      <p:ext uri="{BB962C8B-B14F-4D97-AF65-F5344CB8AC3E}">
        <p14:creationId xmlns:p14="http://schemas.microsoft.com/office/powerpoint/2010/main" val="9479747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Montserrat" panose="00000500000000000000" pitchFamily="2" charset="0"/>
              </a:rPr>
              <a:t>What is Machine Learning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346" y="2096064"/>
            <a:ext cx="7765322" cy="4152335"/>
          </a:xfrm>
        </p:spPr>
        <p:txBody>
          <a:bodyPr/>
          <a:lstStyle/>
          <a:p>
            <a:pPr marL="0" indent="0">
              <a:buNone/>
            </a:pPr>
            <a:r>
              <a:rPr lang="en-US" sz="1800" dirty="0">
                <a:latin typeface="Heebo Light" pitchFamily="2" charset="-79"/>
                <a:ea typeface="Heebo Light" pitchFamily="34" charset="-122"/>
                <a:cs typeface="Heebo Light" pitchFamily="2" charset="-79"/>
              </a:rPr>
              <a:t>A subset of Artificial Intelligence that enables systems to learn from data and improve without being explicitly programmed. Think of it as teaching a computer to recognize patterns and make decisions on its own.</a:t>
            </a:r>
          </a:p>
          <a:p>
            <a:pPr marL="0" indent="0">
              <a:buNone/>
            </a:pPr>
            <a:endParaRPr lang="en-US" sz="1800" dirty="0">
              <a:latin typeface="Heebo Light" pitchFamily="2" charset="-79"/>
              <a:cs typeface="Heebo Light" pitchFamily="2" charset="-79"/>
            </a:endParaRPr>
          </a:p>
          <a:p>
            <a:pPr marL="0" indent="0">
              <a:buNone/>
            </a:pPr>
            <a:r>
              <a:rPr lang="en-US" sz="1800" dirty="0">
                <a:latin typeface="Heebo Light" pitchFamily="2" charset="-79"/>
                <a:cs typeface="Heebo Light" pitchFamily="2" charset="-79"/>
              </a:rPr>
              <a:t>According to Tom Mitchell, ML is the study of algorithms that:</a:t>
            </a:r>
          </a:p>
          <a:p>
            <a:pPr marL="457200" indent="-457200">
              <a:buAutoNum type="arabicPeriod"/>
            </a:pPr>
            <a:r>
              <a:rPr lang="en-US" sz="1800" dirty="0">
                <a:latin typeface="Heebo Light" pitchFamily="2" charset="-79"/>
                <a:cs typeface="Heebo Light" pitchFamily="2" charset="-79"/>
              </a:rPr>
              <a:t>Improves performance P</a:t>
            </a:r>
          </a:p>
          <a:p>
            <a:pPr marL="457200" indent="-457200">
              <a:buAutoNum type="arabicPeriod"/>
            </a:pPr>
            <a:r>
              <a:rPr lang="en-US" sz="1800" dirty="0">
                <a:latin typeface="Heebo Light" pitchFamily="2" charset="-79"/>
                <a:cs typeface="Heebo Light" pitchFamily="2" charset="-79"/>
              </a:rPr>
              <a:t>At some task T</a:t>
            </a:r>
          </a:p>
          <a:p>
            <a:pPr marL="457200" indent="-457200">
              <a:buAutoNum type="arabicPeriod"/>
            </a:pPr>
            <a:r>
              <a:rPr lang="en-US" sz="1800" dirty="0">
                <a:latin typeface="Heebo Light" pitchFamily="2" charset="-79"/>
                <a:cs typeface="Heebo Light" pitchFamily="2" charset="-79"/>
              </a:rPr>
              <a:t>With experience P</a:t>
            </a:r>
          </a:p>
          <a:p>
            <a:pPr marL="0" indent="0">
              <a:buNone/>
            </a:pPr>
            <a:r>
              <a:rPr lang="en-US" sz="1800" dirty="0">
                <a:latin typeface="Heebo Light" pitchFamily="2" charset="-79"/>
                <a:cs typeface="Heebo Light" pitchFamily="2" charset="-79"/>
              </a:rPr>
              <a:t>A well-defined learning task is given by &lt;P,T,E&gt;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564943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0">
            <a:extLst>
              <a:ext uri="{FF2B5EF4-FFF2-40B4-BE49-F238E27FC236}">
                <a16:creationId xmlns:a16="http://schemas.microsoft.com/office/drawing/2014/main" id="{E3E5E2FB-2FE7-FEC5-7BF6-99E1D86A9249}"/>
              </a:ext>
            </a:extLst>
          </p:cNvPr>
          <p:cNvSpPr/>
          <p:nvPr/>
        </p:nvSpPr>
        <p:spPr>
          <a:xfrm>
            <a:off x="758964" y="730747"/>
            <a:ext cx="7318236" cy="6566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defTabSz="640048">
              <a:lnSpc>
                <a:spcPts val="3605"/>
              </a:lnSpc>
            </a:pPr>
            <a:r>
              <a:rPr lang="en-US" sz="2900" dirty="0">
                <a:latin typeface="Montserrat" pitchFamily="34" charset="0"/>
                <a:ea typeface="Montserrat" pitchFamily="34" charset="-122"/>
                <a:cs typeface="Montserrat" pitchFamily="34" charset="-120"/>
              </a:rPr>
              <a:t>History of Machine Learning</a:t>
            </a:r>
            <a:endParaRPr lang="en-US" sz="2900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B4F58ACD-E316-6977-12A7-4501272581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9339" y="1581432"/>
            <a:ext cx="7765322" cy="369513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600" dirty="0">
                <a:latin typeface="Heebo Light" pitchFamily="2" charset="-79"/>
                <a:cs typeface="Heebo Light" pitchFamily="2" charset="-79"/>
              </a:rPr>
              <a:t>1950s : Turing Test (1950), Perceptron (1957)</a:t>
            </a:r>
          </a:p>
          <a:p>
            <a:pPr marL="0" indent="0">
              <a:buNone/>
            </a:pPr>
            <a:r>
              <a:rPr lang="en-US" sz="1600" dirty="0">
                <a:latin typeface="Heebo Light" pitchFamily="2" charset="-79"/>
                <a:cs typeface="Heebo Light" pitchFamily="2" charset="-79"/>
              </a:rPr>
              <a:t>1960s : Nearest Neighbor (1967), AI Winter begins (1969)</a:t>
            </a:r>
          </a:p>
          <a:p>
            <a:pPr marL="0" indent="0">
              <a:buNone/>
            </a:pPr>
            <a:r>
              <a:rPr lang="en-US" sz="1600" dirty="0">
                <a:latin typeface="Heebo Light" pitchFamily="2" charset="-79"/>
                <a:cs typeface="Heebo Light" pitchFamily="2" charset="-79"/>
              </a:rPr>
              <a:t>1980s : Backpropagation (1986), Rise of Neural Networks</a:t>
            </a:r>
          </a:p>
          <a:p>
            <a:pPr marL="0" indent="0">
              <a:buNone/>
            </a:pPr>
            <a:r>
              <a:rPr lang="en-US" sz="1600" dirty="0">
                <a:latin typeface="Heebo Light" pitchFamily="2" charset="-79"/>
                <a:cs typeface="Heebo Light" pitchFamily="2" charset="-79"/>
              </a:rPr>
              <a:t>1990s : SVM, Ensemble Learning</a:t>
            </a:r>
          </a:p>
          <a:p>
            <a:pPr marL="0" indent="0">
              <a:buNone/>
            </a:pPr>
            <a:r>
              <a:rPr lang="en-US" sz="1600" dirty="0">
                <a:latin typeface="Heebo Light" pitchFamily="2" charset="-79"/>
                <a:cs typeface="Heebo Light" pitchFamily="2" charset="-79"/>
              </a:rPr>
              <a:t>2000s : ML in Search, ads and Recommendations (Netflix 2006)</a:t>
            </a:r>
          </a:p>
          <a:p>
            <a:pPr marL="0" indent="0">
              <a:buNone/>
            </a:pPr>
            <a:r>
              <a:rPr lang="en-US" sz="1600" dirty="0">
                <a:latin typeface="Heebo Light" pitchFamily="2" charset="-79"/>
                <a:cs typeface="Heebo Light" pitchFamily="2" charset="-79"/>
              </a:rPr>
              <a:t>2010s : Deep Learning Boom (2012), GANs (2014), BERT (2018)</a:t>
            </a:r>
          </a:p>
          <a:p>
            <a:pPr marL="0" indent="0">
              <a:buNone/>
            </a:pPr>
            <a:r>
              <a:rPr lang="en-US" sz="1600" dirty="0">
                <a:latin typeface="Heebo Light" pitchFamily="2" charset="-79"/>
                <a:cs typeface="Heebo Light" pitchFamily="2" charset="-79"/>
              </a:rPr>
              <a:t>2020s : Foundation Models like ChatGPT &amp; Gemini, Multimodal AI, Ethical AI</a:t>
            </a:r>
          </a:p>
        </p:txBody>
      </p:sp>
    </p:spTree>
    <p:extLst>
      <p:ext uri="{BB962C8B-B14F-4D97-AF65-F5344CB8AC3E}">
        <p14:creationId xmlns:p14="http://schemas.microsoft.com/office/powerpoint/2010/main" val="415876671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Montserrat" panose="00000500000000000000" pitchFamily="2" charset="0"/>
              </a:rPr>
              <a:t>When Do We Use ML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dirty="0">
                <a:latin typeface="Heebo Light" pitchFamily="2" charset="-79"/>
                <a:cs typeface="Heebo Light" pitchFamily="2" charset="-79"/>
              </a:rPr>
              <a:t>ML is used when:</a:t>
            </a:r>
          </a:p>
          <a:p>
            <a:pPr marL="0" indent="0">
              <a:buNone/>
            </a:pPr>
            <a:endParaRPr lang="en-US" sz="2000" dirty="0">
              <a:latin typeface="Heebo Light" pitchFamily="2" charset="-79"/>
              <a:cs typeface="Heebo Light" pitchFamily="2" charset="-79"/>
            </a:endParaRPr>
          </a:p>
          <a:p>
            <a:pPr marL="457200" indent="-457200">
              <a:buAutoNum type="arabicPeriod"/>
            </a:pPr>
            <a:r>
              <a:rPr lang="en-US" sz="2000" dirty="0">
                <a:latin typeface="Heebo Light" pitchFamily="2" charset="-79"/>
                <a:cs typeface="Heebo Light" pitchFamily="2" charset="-79"/>
              </a:rPr>
              <a:t>Human Expertise doesn’t exist. Ex- </a:t>
            </a:r>
            <a:r>
              <a:rPr lang="en-US" dirty="0">
                <a:latin typeface="Heebo Light" pitchFamily="2" charset="-79"/>
                <a:cs typeface="Heebo Light" pitchFamily="2" charset="-79"/>
              </a:rPr>
              <a:t>N</a:t>
            </a:r>
            <a:r>
              <a:rPr lang="en-US" sz="2000" dirty="0">
                <a:latin typeface="Heebo Light" pitchFamily="2" charset="-79"/>
                <a:cs typeface="Heebo Light" pitchFamily="2" charset="-79"/>
              </a:rPr>
              <a:t>avigating on Mars.</a:t>
            </a:r>
          </a:p>
          <a:p>
            <a:pPr marL="457200" indent="-457200">
              <a:buAutoNum type="arabicPeriod"/>
            </a:pPr>
            <a:r>
              <a:rPr lang="en-US" sz="2000" dirty="0">
                <a:latin typeface="Heebo Light" pitchFamily="2" charset="-79"/>
                <a:cs typeface="Heebo Light" pitchFamily="2" charset="-79"/>
              </a:rPr>
              <a:t>Human can’t explain their expertise. Ex- Speech Recognition. </a:t>
            </a:r>
          </a:p>
          <a:p>
            <a:pPr marL="457200" indent="-457200">
              <a:buAutoNum type="arabicPeriod"/>
            </a:pPr>
            <a:r>
              <a:rPr lang="en-US" sz="2000" dirty="0">
                <a:latin typeface="Heebo Light" pitchFamily="2" charset="-79"/>
                <a:cs typeface="Heebo Light" pitchFamily="2" charset="-79"/>
              </a:rPr>
              <a:t>Human in need of a companion. Ex- Chatbots, NLP.</a:t>
            </a:r>
          </a:p>
          <a:p>
            <a:pPr marL="457200" indent="-457200">
              <a:buAutoNum type="arabicPeriod"/>
            </a:pPr>
            <a:r>
              <a:rPr lang="en-US" sz="2000" dirty="0">
                <a:latin typeface="Heebo Light" pitchFamily="2" charset="-79"/>
                <a:cs typeface="Heebo Light" pitchFamily="2" charset="-79"/>
              </a:rPr>
              <a:t>Complexity of work is so high. Ex- Maintaining records of company, finding something unique in data.</a:t>
            </a:r>
          </a:p>
        </p:txBody>
      </p:sp>
    </p:spTree>
    <p:extLst>
      <p:ext uri="{BB962C8B-B14F-4D97-AF65-F5344CB8AC3E}">
        <p14:creationId xmlns:p14="http://schemas.microsoft.com/office/powerpoint/2010/main" val="16824273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0">
            <a:extLst>
              <a:ext uri="{FF2B5EF4-FFF2-40B4-BE49-F238E27FC236}">
                <a16:creationId xmlns:a16="http://schemas.microsoft.com/office/drawing/2014/main" id="{E9B4BE90-A8FD-A8FB-7323-B3DFA690954F}"/>
              </a:ext>
            </a:extLst>
          </p:cNvPr>
          <p:cNvSpPr/>
          <p:nvPr/>
        </p:nvSpPr>
        <p:spPr>
          <a:xfrm>
            <a:off x="716378" y="533400"/>
            <a:ext cx="7318236" cy="6566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defTabSz="640048">
              <a:lnSpc>
                <a:spcPts val="3605"/>
              </a:lnSpc>
            </a:pPr>
            <a:r>
              <a:rPr lang="en-US" sz="2900" dirty="0">
                <a:latin typeface="Montserrat" pitchFamily="34" charset="0"/>
                <a:ea typeface="Montserrat" pitchFamily="34" charset="-122"/>
                <a:cs typeface="Montserrat" pitchFamily="34" charset="-120"/>
              </a:rPr>
              <a:t>Benefits of Machine Learning</a:t>
            </a:r>
            <a:endParaRPr lang="en-US" sz="2900" dirty="0"/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2BD1F62B-6FB0-D8D0-02DF-67E771F1CB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9339" y="1295400"/>
            <a:ext cx="7765322" cy="5124168"/>
          </a:xfrm>
        </p:spPr>
        <p:txBody>
          <a:bodyPr>
            <a:normAutofit fontScale="92500" lnSpcReduction="10000"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sz="1600" dirty="0">
                <a:latin typeface="Heebo Light" pitchFamily="2" charset="-79"/>
                <a:cs typeface="Heebo Light" pitchFamily="2" charset="-79"/>
              </a:rPr>
              <a:t>Automation of Repetitive and Time-Consuming Tasks.                                                      Ex- Email Filtering</a:t>
            </a:r>
          </a:p>
          <a:p>
            <a:pPr marL="342900" indent="-342900">
              <a:buAutoNum type="arabicPeriod" startAt="2"/>
            </a:pPr>
            <a:r>
              <a:rPr lang="en-US" sz="1600" dirty="0">
                <a:latin typeface="Heebo Light" pitchFamily="2" charset="-79"/>
                <a:cs typeface="Heebo Light" pitchFamily="2" charset="-79"/>
              </a:rPr>
              <a:t>Better Decision Making in Large Datasets. 			                     Ex- Financial Forecasting</a:t>
            </a:r>
          </a:p>
          <a:p>
            <a:pPr marL="342900" indent="-342900">
              <a:buAutoNum type="arabicPeriod" startAt="2"/>
            </a:pPr>
            <a:r>
              <a:rPr lang="en-US" sz="1600" dirty="0">
                <a:latin typeface="Heebo Light" pitchFamily="2" charset="-79"/>
                <a:cs typeface="Heebo Light" pitchFamily="2" charset="-79"/>
              </a:rPr>
              <a:t>Personalized Recommendation to User. 			                                            Ex- Amazon Product Suggestion</a:t>
            </a:r>
          </a:p>
          <a:p>
            <a:pPr marL="342900" indent="-342900">
              <a:buAutoNum type="arabicPeriod" startAt="2"/>
            </a:pPr>
            <a:r>
              <a:rPr lang="en-US" sz="1600" dirty="0">
                <a:latin typeface="Heebo Light" pitchFamily="2" charset="-79"/>
                <a:cs typeface="Heebo Light" pitchFamily="2" charset="-79"/>
              </a:rPr>
              <a:t>Faster and More Accurate Predictions.			                                         Ex- Weather Forecasting.</a:t>
            </a:r>
          </a:p>
          <a:p>
            <a:pPr marL="342900" indent="-342900">
              <a:buAutoNum type="arabicPeriod" startAt="2"/>
            </a:pPr>
            <a:r>
              <a:rPr lang="en-US" sz="1600" dirty="0">
                <a:latin typeface="Heebo Light" pitchFamily="2" charset="-79"/>
                <a:cs typeface="Heebo Light" pitchFamily="2" charset="-79"/>
              </a:rPr>
              <a:t>Enhanced Security.					                      Ex- Credit Card Fraud Alerts</a:t>
            </a:r>
          </a:p>
          <a:p>
            <a:pPr marL="342900" indent="-342900">
              <a:buAutoNum type="arabicPeriod" startAt="2"/>
            </a:pPr>
            <a:r>
              <a:rPr lang="en-US" sz="1600" dirty="0">
                <a:latin typeface="Heebo Light" pitchFamily="2" charset="-79"/>
                <a:cs typeface="Heebo Light" pitchFamily="2" charset="-79"/>
              </a:rPr>
              <a:t>Solving Complex Problems. 					                      Ex- NLP, Voice Recognition</a:t>
            </a:r>
          </a:p>
          <a:p>
            <a:pPr marL="342900" indent="-342900">
              <a:buAutoNum type="arabicPeriod" startAt="2"/>
            </a:pPr>
            <a:r>
              <a:rPr lang="en-US" sz="1600" dirty="0">
                <a:latin typeface="Heebo Light" pitchFamily="2" charset="-79"/>
                <a:cs typeface="Heebo Light" pitchFamily="2" charset="-79"/>
              </a:rPr>
              <a:t>Advancement in Healthcare and Science. 	                                                            Ex- Detect Cancer from medical images, </a:t>
            </a:r>
          </a:p>
          <a:p>
            <a:pPr marL="342900" indent="-342900">
              <a:buAutoNum type="arabicPeriod" startAt="2"/>
            </a:pPr>
            <a:r>
              <a:rPr lang="en-US" sz="1600" dirty="0">
                <a:latin typeface="Heebo Light" pitchFamily="2" charset="-79"/>
                <a:cs typeface="Heebo Light" pitchFamily="2" charset="-79"/>
              </a:rPr>
              <a:t>Enabling Smart Devices. 						 Ex- Alexa, Tesla Autopilot</a:t>
            </a:r>
          </a:p>
        </p:txBody>
      </p:sp>
    </p:spTree>
    <p:extLst>
      <p:ext uri="{BB962C8B-B14F-4D97-AF65-F5344CB8AC3E}">
        <p14:creationId xmlns:p14="http://schemas.microsoft.com/office/powerpoint/2010/main" val="113518535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0">
            <a:extLst>
              <a:ext uri="{FF2B5EF4-FFF2-40B4-BE49-F238E27FC236}">
                <a16:creationId xmlns:a16="http://schemas.microsoft.com/office/drawing/2014/main" id="{5B65C4A8-E6E5-149A-8EFD-74FCE92EFE8C}"/>
              </a:ext>
            </a:extLst>
          </p:cNvPr>
          <p:cNvSpPr/>
          <p:nvPr/>
        </p:nvSpPr>
        <p:spPr>
          <a:xfrm>
            <a:off x="758964" y="730747"/>
            <a:ext cx="7318236" cy="6566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defTabSz="640048">
              <a:lnSpc>
                <a:spcPts val="3605"/>
              </a:lnSpc>
            </a:pPr>
            <a:r>
              <a:rPr lang="en-US" sz="2900" dirty="0">
                <a:latin typeface="Montserrat" pitchFamily="34" charset="0"/>
              </a:rPr>
              <a:t>Current Status of ML Market</a:t>
            </a:r>
            <a:endParaRPr lang="en-US" sz="29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0195FD3-5C77-DD0B-9D2A-AC161EE42B17}"/>
              </a:ext>
            </a:extLst>
          </p:cNvPr>
          <p:cNvSpPr txBox="1"/>
          <p:nvPr/>
        </p:nvSpPr>
        <p:spPr>
          <a:xfrm>
            <a:off x="436018" y="1718928"/>
            <a:ext cx="3982064" cy="72943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Google Sans"/>
              </a:rPr>
              <a:t>A</a:t>
            </a:r>
            <a:r>
              <a:rPr lang="en-US" b="0" i="0" dirty="0">
                <a:effectLst/>
                <a:latin typeface="Google Sans"/>
              </a:rPr>
              <a:t>ccording to Statista, the machine learning market is projected to reach $113.10 billion in 2025 and continue growing to $503.40 billion by 2030, with a CAGR of 34.80%.</a:t>
            </a:r>
            <a:endParaRPr lang="en-US" dirty="0">
              <a:latin typeface="Heebo Light" pitchFamily="2" charset="-79"/>
              <a:cs typeface="Heebo Light" pitchFamily="2" charset="-79"/>
            </a:endParaRPr>
          </a:p>
          <a:p>
            <a:pPr marL="0" indent="0">
              <a:buNone/>
            </a:pPr>
            <a:endParaRPr lang="en-US" sz="1800" dirty="0">
              <a:latin typeface="Heebo Light" pitchFamily="2" charset="-79"/>
              <a:cs typeface="Heebo Light" pitchFamily="2" charset="-79"/>
            </a:endParaRPr>
          </a:p>
          <a:p>
            <a:r>
              <a:rPr lang="en-US" b="0" i="0" dirty="0">
                <a:effectLst/>
                <a:latin typeface="Google Sans"/>
              </a:rPr>
              <a:t>Many organizations are actively adopting machine learning, with some already seeing significant benefits in terms of productivity and revenue, like Healthcare, Finance, Agriculture, etc.</a:t>
            </a:r>
          </a:p>
          <a:p>
            <a:endParaRPr lang="en-US" dirty="0">
              <a:latin typeface="Google Sans"/>
            </a:endParaRPr>
          </a:p>
          <a:p>
            <a:r>
              <a:rPr lang="en-US" b="0" i="0" dirty="0">
                <a:effectLst/>
                <a:latin typeface="Google Sans"/>
              </a:rPr>
              <a:t>Current Trends: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Google Sans"/>
              </a:rPr>
              <a:t>Foundation Models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Google Sans"/>
              </a:rPr>
              <a:t>Edge AI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Google Sans"/>
              </a:rPr>
              <a:t>ML + Cybersecurity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Google Sans"/>
                <a:cs typeface="Heebo Light" pitchFamily="2" charset="-79"/>
              </a:rPr>
              <a:t>ML in Automobiles</a:t>
            </a:r>
            <a:endParaRPr lang="en-US" dirty="0">
              <a:latin typeface="Heebo Light" pitchFamily="2" charset="-79"/>
              <a:cs typeface="Heebo Light" pitchFamily="2" charset="-79"/>
            </a:endParaRPr>
          </a:p>
          <a:p>
            <a:pPr marL="0" indent="0">
              <a:buNone/>
            </a:pPr>
            <a:endParaRPr lang="en-US" sz="1800" dirty="0">
              <a:latin typeface="Heebo Light" pitchFamily="2" charset="-79"/>
              <a:cs typeface="Heebo Light" pitchFamily="2" charset="-79"/>
            </a:endParaRPr>
          </a:p>
          <a:p>
            <a:pPr marL="0" indent="0">
              <a:buNone/>
            </a:pPr>
            <a:endParaRPr lang="en-US" dirty="0">
              <a:latin typeface="Heebo Light" pitchFamily="2" charset="-79"/>
              <a:cs typeface="Heebo Light" pitchFamily="2" charset="-79"/>
            </a:endParaRPr>
          </a:p>
          <a:p>
            <a:pPr marL="0" indent="0">
              <a:buNone/>
            </a:pPr>
            <a:endParaRPr lang="en-US" sz="1800" dirty="0">
              <a:latin typeface="Heebo Light" pitchFamily="2" charset="-79"/>
              <a:cs typeface="Heebo Light" pitchFamily="2" charset="-79"/>
            </a:endParaRPr>
          </a:p>
          <a:p>
            <a:pPr marL="0" indent="0">
              <a:buNone/>
            </a:pPr>
            <a:endParaRPr lang="en-US" dirty="0">
              <a:latin typeface="Heebo Light" pitchFamily="2" charset="-79"/>
              <a:cs typeface="Heebo Light" pitchFamily="2" charset="-79"/>
            </a:endParaRPr>
          </a:p>
          <a:p>
            <a:pPr marL="0" indent="0">
              <a:buNone/>
            </a:pPr>
            <a:endParaRPr lang="en-US" sz="1800" dirty="0">
              <a:latin typeface="Heebo Light" pitchFamily="2" charset="-79"/>
              <a:cs typeface="Heebo Light" pitchFamily="2" charset="-79"/>
            </a:endParaRPr>
          </a:p>
          <a:p>
            <a:pPr marL="0" indent="0">
              <a:buNone/>
            </a:pPr>
            <a:endParaRPr lang="en-US" dirty="0">
              <a:latin typeface="Heebo Light" pitchFamily="2" charset="-79"/>
              <a:cs typeface="Heebo Light" pitchFamily="2" charset="-79"/>
            </a:endParaRPr>
          </a:p>
          <a:p>
            <a:pPr marL="0" indent="0">
              <a:buNone/>
            </a:pPr>
            <a:endParaRPr lang="en-US" sz="1800" dirty="0">
              <a:latin typeface="Heebo Light" pitchFamily="2" charset="-79"/>
              <a:cs typeface="Heebo Light" pitchFamily="2" charset="-79"/>
            </a:endParaRPr>
          </a:p>
          <a:p>
            <a:pPr marL="0" indent="0">
              <a:buNone/>
            </a:pPr>
            <a:endParaRPr lang="en-US" dirty="0">
              <a:latin typeface="Heebo Light" pitchFamily="2" charset="-79"/>
              <a:cs typeface="Heebo Light" pitchFamily="2" charset="-79"/>
            </a:endParaRPr>
          </a:p>
          <a:p>
            <a:pPr marL="0" indent="0">
              <a:buNone/>
            </a:pPr>
            <a:r>
              <a:rPr lang="en-US" sz="1800" dirty="0">
                <a:latin typeface="Heebo Light" pitchFamily="2" charset="-79"/>
                <a:cs typeface="Heebo Light" pitchFamily="2" charset="-79"/>
              </a:rPr>
              <a:t>g</a:t>
            </a:r>
          </a:p>
        </p:txBody>
      </p:sp>
      <p:pic>
        <p:nvPicPr>
          <p:cNvPr id="8" name="Picture 7" descr="A graph with a line and orange dotted line&#10;&#10;AI-generated content may be incorrect.">
            <a:extLst>
              <a:ext uri="{FF2B5EF4-FFF2-40B4-BE49-F238E27FC236}">
                <a16:creationId xmlns:a16="http://schemas.microsoft.com/office/drawing/2014/main" id="{CDAF7013-BF66-C8DC-D234-FAD2C6AB0DDF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95800" y="1718928"/>
            <a:ext cx="4611329" cy="37905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627358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910693" y="879239"/>
            <a:ext cx="5322540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defTabSz="640048">
              <a:lnSpc>
                <a:spcPts val="3885"/>
              </a:lnSpc>
            </a:pPr>
            <a:r>
              <a:rPr lang="en-US" sz="3100" dirty="0">
                <a:latin typeface="Montserrat" pitchFamily="34" charset="0"/>
                <a:ea typeface="Montserrat" pitchFamily="34" charset="-122"/>
                <a:cs typeface="Montserrat" pitchFamily="34" charset="-120"/>
              </a:rPr>
              <a:t>How Machine Learning Works</a:t>
            </a:r>
            <a:endParaRPr lang="en-US" sz="3100" dirty="0"/>
          </a:p>
        </p:txBody>
      </p:sp>
      <p:sp>
        <p:nvSpPr>
          <p:cNvPr id="3" name="Text 1"/>
          <p:cNvSpPr/>
          <p:nvPr/>
        </p:nvSpPr>
        <p:spPr>
          <a:xfrm>
            <a:off x="1160785" y="2005608"/>
            <a:ext cx="1772022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defTabSz="640048">
              <a:lnSpc>
                <a:spcPts val="1925"/>
              </a:lnSpc>
            </a:pPr>
            <a:r>
              <a:rPr lang="en-US" sz="1500" dirty="0">
                <a:latin typeface="Montserrat" pitchFamily="34" charset="0"/>
                <a:ea typeface="Montserrat" pitchFamily="34" charset="-122"/>
                <a:cs typeface="Montserrat" pitchFamily="34" charset="-120"/>
              </a:rPr>
              <a:t>Data Collection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496119" y="2414291"/>
            <a:ext cx="2436689" cy="1209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defTabSz="640048">
              <a:lnSpc>
                <a:spcPts val="1995"/>
              </a:lnSpc>
            </a:pPr>
            <a:r>
              <a:rPr lang="en-US" sz="1200" dirty="0"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ML systems rely on large volumes of structured or unstructured data, gathered from diverse sources to create comprehensive datasets.</a:t>
            </a:r>
            <a:endParaRPr lang="en-US" sz="12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45409" y="2011265"/>
            <a:ext cx="2853109" cy="3804146"/>
          </a:xfrm>
          <a:prstGeom prst="rect">
            <a:avLst/>
          </a:prstGeom>
        </p:spPr>
      </p:pic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91707" y="2647157"/>
            <a:ext cx="212080" cy="353517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211120" y="2005608"/>
            <a:ext cx="1772022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defTabSz="640048">
              <a:lnSpc>
                <a:spcPts val="1925"/>
              </a:lnSpc>
            </a:pPr>
            <a:r>
              <a:rPr lang="en-US" sz="1500" dirty="0">
                <a:latin typeface="Montserrat" pitchFamily="34" charset="0"/>
                <a:ea typeface="Montserrat" pitchFamily="34" charset="-122"/>
                <a:cs typeface="Montserrat" pitchFamily="34" charset="-120"/>
              </a:rPr>
              <a:t>Training Algorithms</a:t>
            </a:r>
            <a:endParaRPr lang="en-US" sz="1500" dirty="0"/>
          </a:p>
        </p:txBody>
      </p:sp>
      <p:sp>
        <p:nvSpPr>
          <p:cNvPr id="8" name="Text 4"/>
          <p:cNvSpPr/>
          <p:nvPr/>
        </p:nvSpPr>
        <p:spPr>
          <a:xfrm>
            <a:off x="6211120" y="2414291"/>
            <a:ext cx="2436763" cy="1209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640048">
              <a:lnSpc>
                <a:spcPts val="1995"/>
              </a:lnSpc>
            </a:pPr>
            <a:r>
              <a:rPr lang="en-US" sz="1200" dirty="0"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Algorithms identify patterns and relationships in the collected data, iteratively adjusting to minimise errors and improve performance.</a:t>
            </a:r>
            <a:endParaRPr lang="en-US" sz="120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45409" y="2011265"/>
            <a:ext cx="2853109" cy="3804146"/>
          </a:xfrm>
          <a:prstGeom prst="rect">
            <a:avLst/>
          </a:prstGeom>
        </p:spPr>
      </p:pic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82878" y="2970907"/>
            <a:ext cx="212080" cy="353517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6211120" y="3907433"/>
            <a:ext cx="2436763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640048">
              <a:lnSpc>
                <a:spcPts val="1925"/>
              </a:lnSpc>
            </a:pPr>
            <a:r>
              <a:rPr lang="en-US" sz="1500" dirty="0"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Prediction &amp; Decision-Making</a:t>
            </a:r>
            <a:endParaRPr lang="en-US" sz="1500" dirty="0"/>
          </a:p>
        </p:txBody>
      </p:sp>
      <p:sp>
        <p:nvSpPr>
          <p:cNvPr id="12" name="Text 6"/>
          <p:cNvSpPr/>
          <p:nvPr/>
        </p:nvSpPr>
        <p:spPr>
          <a:xfrm>
            <a:off x="6211120" y="4611391"/>
            <a:ext cx="2436763" cy="1209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640048">
              <a:lnSpc>
                <a:spcPts val="1995"/>
              </a:lnSpc>
            </a:pPr>
            <a:r>
              <a:rPr lang="en-US" sz="1200" dirty="0"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Once trained, ML models can make accurate predictions or automate decisions based on new, unseen data, driving efficiency and insights.</a:t>
            </a:r>
            <a:endParaRPr lang="en-US" sz="1200" dirty="0"/>
          </a:p>
        </p:txBody>
      </p:sp>
      <p:pic>
        <p:nvPicPr>
          <p:cNvPr id="13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145409" y="2011265"/>
            <a:ext cx="2853109" cy="3804146"/>
          </a:xfrm>
          <a:prstGeom prst="rect">
            <a:avLst/>
          </a:prstGeom>
        </p:spPr>
      </p:pic>
      <p:pic>
        <p:nvPicPr>
          <p:cNvPr id="1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040064" y="4825802"/>
            <a:ext cx="212080" cy="353517"/>
          </a:xfrm>
          <a:prstGeom prst="rect">
            <a:avLst/>
          </a:prstGeom>
        </p:spPr>
      </p:pic>
      <p:sp>
        <p:nvSpPr>
          <p:cNvPr id="15" name="Text 7"/>
          <p:cNvSpPr/>
          <p:nvPr/>
        </p:nvSpPr>
        <p:spPr>
          <a:xfrm>
            <a:off x="633933" y="4055071"/>
            <a:ext cx="229887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defTabSz="640048">
              <a:lnSpc>
                <a:spcPts val="1925"/>
              </a:lnSpc>
            </a:pPr>
            <a:r>
              <a:rPr lang="en-US" sz="1500" dirty="0"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Continuous Improvement</a:t>
            </a:r>
            <a:endParaRPr lang="en-US" sz="1500" dirty="0"/>
          </a:p>
        </p:txBody>
      </p:sp>
      <p:sp>
        <p:nvSpPr>
          <p:cNvPr id="16" name="Text 8"/>
          <p:cNvSpPr/>
          <p:nvPr/>
        </p:nvSpPr>
        <p:spPr>
          <a:xfrm>
            <a:off x="496119" y="4463753"/>
            <a:ext cx="2436689" cy="1209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defTabSz="640048">
              <a:lnSpc>
                <a:spcPts val="1995"/>
              </a:lnSpc>
            </a:pPr>
            <a:r>
              <a:rPr lang="en-US" sz="1200" dirty="0"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ML models are constantly refined as new data becomes available, ensuring they adapt and enhance their accuracy over time.</a:t>
            </a:r>
            <a:endParaRPr lang="en-US" sz="1200" dirty="0"/>
          </a:p>
        </p:txBody>
      </p:sp>
      <p:pic>
        <p:nvPicPr>
          <p:cNvPr id="17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145409" y="2011265"/>
            <a:ext cx="2853109" cy="3804146"/>
          </a:xfrm>
          <a:prstGeom prst="rect">
            <a:avLst/>
          </a:prstGeom>
        </p:spPr>
      </p:pic>
      <p:pic>
        <p:nvPicPr>
          <p:cNvPr id="18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648894" y="4502052"/>
            <a:ext cx="212080" cy="3535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05592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966019" y="759618"/>
            <a:ext cx="6492326" cy="6566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defTabSz="640048">
              <a:lnSpc>
                <a:spcPts val="3605"/>
              </a:lnSpc>
            </a:pPr>
            <a:r>
              <a:rPr lang="en-US" sz="2900" dirty="0">
                <a:latin typeface="Montserrat" pitchFamily="34" charset="0"/>
                <a:ea typeface="Montserrat" pitchFamily="34" charset="-122"/>
                <a:cs typeface="Montserrat" pitchFamily="34" charset="-120"/>
              </a:rPr>
              <a:t>Key Types of Machine Learning</a:t>
            </a:r>
            <a:endParaRPr lang="en-US" sz="2900" dirty="0"/>
          </a:p>
        </p:txBody>
      </p:sp>
      <p:sp>
        <p:nvSpPr>
          <p:cNvPr id="5" name="Text 2"/>
          <p:cNvSpPr/>
          <p:nvPr/>
        </p:nvSpPr>
        <p:spPr>
          <a:xfrm>
            <a:off x="746676" y="1937946"/>
            <a:ext cx="196899" cy="3282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defTabSz="640048">
              <a:lnSpc>
                <a:spcPts val="1715"/>
              </a:lnSpc>
            </a:pPr>
            <a:r>
              <a:rPr lang="en-US" sz="1700" dirty="0">
                <a:latin typeface="Montserrat" pitchFamily="34" charset="0"/>
                <a:ea typeface="Montserrat" pitchFamily="34" charset="-122"/>
                <a:cs typeface="Montserrat" pitchFamily="34" charset="-120"/>
              </a:rPr>
              <a:t>1.</a:t>
            </a:r>
            <a:endParaRPr lang="en-US" sz="1700" dirty="0"/>
          </a:p>
        </p:txBody>
      </p:sp>
      <p:sp>
        <p:nvSpPr>
          <p:cNvPr id="6" name="Text 3"/>
          <p:cNvSpPr/>
          <p:nvPr/>
        </p:nvSpPr>
        <p:spPr>
          <a:xfrm>
            <a:off x="990600" y="1923411"/>
            <a:ext cx="1687934" cy="2735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defTabSz="640048">
              <a:lnSpc>
                <a:spcPts val="1785"/>
              </a:lnSpc>
            </a:pPr>
            <a:r>
              <a:rPr lang="en-US" dirty="0">
                <a:latin typeface="Montserrat" pitchFamily="34" charset="0"/>
                <a:ea typeface="Montserrat" pitchFamily="34" charset="-122"/>
                <a:cs typeface="Montserrat" pitchFamily="34" charset="-120"/>
              </a:rPr>
              <a:t>Supervised Learning</a:t>
            </a:r>
            <a:endParaRPr lang="en-US" dirty="0"/>
          </a:p>
        </p:txBody>
      </p:sp>
      <p:sp>
        <p:nvSpPr>
          <p:cNvPr id="7" name="Text 4"/>
          <p:cNvSpPr/>
          <p:nvPr/>
        </p:nvSpPr>
        <p:spPr>
          <a:xfrm>
            <a:off x="746674" y="2337843"/>
            <a:ext cx="5120726" cy="5603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640048">
              <a:lnSpc>
                <a:spcPts val="1820"/>
              </a:lnSpc>
            </a:pPr>
            <a:r>
              <a:rPr lang="en-US" sz="1400" dirty="0"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Learns from labelled data, where the output is known (e.g., classifying emails as spam or not spam). This is like learning with a teacher.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746675" y="3348544"/>
            <a:ext cx="196899" cy="3282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defTabSz="640048">
              <a:lnSpc>
                <a:spcPts val="1715"/>
              </a:lnSpc>
            </a:pPr>
            <a:r>
              <a:rPr lang="en-US" sz="1700" dirty="0">
                <a:latin typeface="Montserrat" pitchFamily="34" charset="0"/>
                <a:ea typeface="Montserrat" pitchFamily="34" charset="-122"/>
                <a:cs typeface="Montserrat" pitchFamily="34" charset="-120"/>
              </a:rPr>
              <a:t>2.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990600" y="3348544"/>
            <a:ext cx="1907977" cy="2735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defTabSz="640048">
              <a:lnSpc>
                <a:spcPts val="1785"/>
              </a:lnSpc>
            </a:pPr>
            <a:r>
              <a:rPr lang="en-US" dirty="0">
                <a:latin typeface="Montserrat" pitchFamily="34" charset="0"/>
                <a:ea typeface="Montserrat" pitchFamily="34" charset="-122"/>
                <a:cs typeface="Montserrat" pitchFamily="34" charset="-120"/>
              </a:rPr>
              <a:t>Unsupervised Learning</a:t>
            </a:r>
            <a:endParaRPr lang="en-US" dirty="0"/>
          </a:p>
        </p:txBody>
      </p:sp>
      <p:sp>
        <p:nvSpPr>
          <p:cNvPr id="11" name="Text 8"/>
          <p:cNvSpPr/>
          <p:nvPr/>
        </p:nvSpPr>
        <p:spPr>
          <a:xfrm>
            <a:off x="746674" y="3722357"/>
            <a:ext cx="5120726" cy="8405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640048">
              <a:lnSpc>
                <a:spcPts val="1820"/>
              </a:lnSpc>
            </a:pPr>
            <a:r>
              <a:rPr lang="en-US" sz="1400" dirty="0"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Finds hidden patterns or structures in unlabelled data (e.g., segmenting customers into distinct groups based on purchasing behaviour). This is learning without a teacher.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746674" y="4825752"/>
            <a:ext cx="196899" cy="3282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defTabSz="640048">
              <a:lnSpc>
                <a:spcPts val="1715"/>
              </a:lnSpc>
            </a:pPr>
            <a:r>
              <a:rPr lang="en-US" sz="1700" dirty="0">
                <a:latin typeface="Montserrat" pitchFamily="34" charset="0"/>
                <a:ea typeface="Montserrat" pitchFamily="34" charset="-122"/>
                <a:cs typeface="Montserrat" pitchFamily="34" charset="-120"/>
              </a:rPr>
              <a:t>3.</a:t>
            </a:r>
            <a:endParaRPr lang="en-US" sz="1700" dirty="0"/>
          </a:p>
        </p:txBody>
      </p:sp>
      <p:sp>
        <p:nvSpPr>
          <p:cNvPr id="14" name="Text 11"/>
          <p:cNvSpPr/>
          <p:nvPr/>
        </p:nvSpPr>
        <p:spPr>
          <a:xfrm>
            <a:off x="990600" y="4820296"/>
            <a:ext cx="2008882" cy="2735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defTabSz="640048">
              <a:lnSpc>
                <a:spcPts val="1785"/>
              </a:lnSpc>
            </a:pPr>
            <a:r>
              <a:rPr lang="en-US" dirty="0"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Reinforcement Learning</a:t>
            </a:r>
            <a:endParaRPr lang="en-US" dirty="0"/>
          </a:p>
        </p:txBody>
      </p:sp>
      <p:sp>
        <p:nvSpPr>
          <p:cNvPr id="15" name="Text 12"/>
          <p:cNvSpPr/>
          <p:nvPr/>
        </p:nvSpPr>
        <p:spPr>
          <a:xfrm>
            <a:off x="758964" y="5257800"/>
            <a:ext cx="5108436" cy="8405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640048">
              <a:lnSpc>
                <a:spcPts val="1820"/>
              </a:lnSpc>
            </a:pPr>
            <a:r>
              <a:rPr lang="en-US" sz="1400" dirty="0"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Learns through trial and error by interacting with an environment and receiving rewards or penalties (e.g., training a robot to navigate a maze or playing complex games). This is learning by doing.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195832471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9621" y="685800"/>
            <a:ext cx="8304759" cy="3746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defTabSz="571500">
              <a:lnSpc>
                <a:spcPts val="2938"/>
              </a:lnSpc>
            </a:pPr>
            <a:r>
              <a:rPr lang="en-US" sz="2344" dirty="0"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Real-World Applications of ML across Industries</a:t>
            </a:r>
            <a:endParaRPr lang="en-US" sz="2344" dirty="0">
              <a:latin typeface="Calibri" panose="020F0502020204030204"/>
            </a:endParaRPr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9621" y="1831479"/>
            <a:ext cx="299740" cy="2997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69231" y="1902619"/>
            <a:ext cx="1498774" cy="1873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defTabSz="571500">
              <a:lnSpc>
                <a:spcPts val="1469"/>
              </a:lnSpc>
            </a:pPr>
            <a:r>
              <a:rPr lang="en-US" dirty="0">
                <a:latin typeface="Montserrat" pitchFamily="34" charset="0"/>
                <a:ea typeface="Montserrat" pitchFamily="34" charset="-122"/>
                <a:cs typeface="Montserrat" pitchFamily="34" charset="-120"/>
              </a:rPr>
              <a:t>Healthcare</a:t>
            </a:r>
            <a:endParaRPr lang="en-US" dirty="0">
              <a:latin typeface="Calibri" panose="020F0502020204030204"/>
            </a:endParaRPr>
          </a:p>
        </p:txBody>
      </p:sp>
      <p:sp>
        <p:nvSpPr>
          <p:cNvPr id="5" name="Text 2"/>
          <p:cNvSpPr/>
          <p:nvPr/>
        </p:nvSpPr>
        <p:spPr>
          <a:xfrm>
            <a:off x="869231" y="2161802"/>
            <a:ext cx="7855149" cy="1873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defTabSz="571500">
              <a:lnSpc>
                <a:spcPts val="1500"/>
              </a:lnSpc>
            </a:pPr>
            <a:r>
              <a:rPr lang="en-US" sz="1200" dirty="0"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Predicting diseases from medical images, personalising treatment plans, and accelerating drug discovery processes.</a:t>
            </a:r>
            <a:endParaRPr lang="en-US" sz="1200" dirty="0">
              <a:latin typeface="Calibri" panose="020F0502020204030204"/>
            </a:endParaRPr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9621" y="2653308"/>
            <a:ext cx="299740" cy="29974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869231" y="2724448"/>
            <a:ext cx="1498774" cy="1873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defTabSz="571500">
              <a:lnSpc>
                <a:spcPts val="1469"/>
              </a:lnSpc>
            </a:pPr>
            <a:r>
              <a:rPr lang="en-US" sz="1600" dirty="0">
                <a:latin typeface="Montserrat" pitchFamily="34" charset="0"/>
                <a:ea typeface="Montserrat" pitchFamily="34" charset="-122"/>
                <a:cs typeface="Montserrat" pitchFamily="34" charset="-120"/>
              </a:rPr>
              <a:t>Finance</a:t>
            </a:r>
            <a:endParaRPr lang="en-US" sz="1600" dirty="0">
              <a:latin typeface="Calibri" panose="020F0502020204030204"/>
            </a:endParaRPr>
          </a:p>
        </p:txBody>
      </p:sp>
      <p:sp>
        <p:nvSpPr>
          <p:cNvPr id="8" name="Text 4"/>
          <p:cNvSpPr/>
          <p:nvPr/>
        </p:nvSpPr>
        <p:spPr>
          <a:xfrm>
            <a:off x="869231" y="2983632"/>
            <a:ext cx="7855149" cy="1917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defTabSz="571500">
              <a:lnSpc>
                <a:spcPts val="1500"/>
              </a:lnSpc>
            </a:pPr>
            <a:r>
              <a:rPr lang="en-US" sz="1200" dirty="0"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Detecting fraudulent transactions, optimising algorithmic trading strategies, and providing personalised financial advice.</a:t>
            </a:r>
            <a:endParaRPr lang="en-US" sz="1200" dirty="0">
              <a:latin typeface="Calibri" panose="020F0502020204030204"/>
            </a:endParaRPr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9621" y="3475137"/>
            <a:ext cx="299740" cy="29974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869231" y="3546277"/>
            <a:ext cx="1498774" cy="1873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defTabSz="571500">
              <a:lnSpc>
                <a:spcPts val="1469"/>
              </a:lnSpc>
            </a:pPr>
            <a:r>
              <a:rPr lang="en-US" sz="1600" dirty="0">
                <a:latin typeface="Montserrat" pitchFamily="34" charset="0"/>
                <a:ea typeface="Montserrat" pitchFamily="34" charset="-122"/>
                <a:cs typeface="Montserrat" pitchFamily="34" charset="-120"/>
              </a:rPr>
              <a:t>Agriculture</a:t>
            </a:r>
            <a:endParaRPr lang="en-US" sz="1600" dirty="0">
              <a:latin typeface="Calibri" panose="020F0502020204030204"/>
            </a:endParaRPr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19621" y="4355359"/>
            <a:ext cx="299740" cy="29974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852025" y="4429480"/>
            <a:ext cx="1498774" cy="1873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defTabSz="571500">
              <a:lnSpc>
                <a:spcPts val="1469"/>
              </a:lnSpc>
            </a:pPr>
            <a:r>
              <a:rPr lang="en-US" sz="1600" dirty="0">
                <a:latin typeface="Montserrat" pitchFamily="34" charset="0"/>
                <a:ea typeface="Montserrat" pitchFamily="34" charset="-122"/>
                <a:cs typeface="Montserrat" pitchFamily="34" charset="-120"/>
              </a:rPr>
              <a:t>Governance</a:t>
            </a:r>
            <a:endParaRPr lang="en-US" sz="1600" dirty="0">
              <a:latin typeface="Calibri" panose="020F0502020204030204"/>
            </a:endParaRPr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19621" y="5235581"/>
            <a:ext cx="299740" cy="299740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869231" y="5301150"/>
            <a:ext cx="1498774" cy="1873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defTabSz="571500">
              <a:lnSpc>
                <a:spcPts val="1469"/>
              </a:lnSpc>
            </a:pPr>
            <a:r>
              <a:rPr lang="en-US" sz="1600" dirty="0">
                <a:latin typeface="Montserrat" pitchFamily="34" charset="0"/>
                <a:ea typeface="Montserrat" pitchFamily="34" charset="-122"/>
                <a:cs typeface="Montserrat" pitchFamily="34" charset="-120"/>
              </a:rPr>
              <a:t>Education</a:t>
            </a:r>
            <a:endParaRPr lang="en-US" sz="1600" dirty="0">
              <a:latin typeface="Calibri" panose="020F0502020204030204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A86128B-07E5-BE5E-0C1A-BA3E4FA8A66D}"/>
              </a:ext>
            </a:extLst>
          </p:cNvPr>
          <p:cNvSpPr txBox="1"/>
          <p:nvPr/>
        </p:nvSpPr>
        <p:spPr>
          <a:xfrm>
            <a:off x="756231" y="5535321"/>
            <a:ext cx="8159168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Heebo Light" pitchFamily="2" charset="-79"/>
                <a:ea typeface="Heebo Light" pitchFamily="34" charset="-122"/>
                <a:cs typeface="Heebo Light" pitchFamily="2" charset="-79"/>
              </a:rPr>
              <a:t>Developing adaptive learning systems tailored to individual student needs, automating grading, and providing predictive analytics for student success.</a:t>
            </a:r>
            <a:endParaRPr lang="en-US" sz="1200" dirty="0">
              <a:latin typeface="Heebo Light" pitchFamily="2" charset="-79"/>
              <a:cs typeface="Heebo Light" pitchFamily="2" charset="-79"/>
            </a:endParaRPr>
          </a:p>
          <a:p>
            <a:endParaRPr lang="en-US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09BE531-CB22-D68A-8086-F22F33A3690A}"/>
              </a:ext>
            </a:extLst>
          </p:cNvPr>
          <p:cNvSpPr txBox="1"/>
          <p:nvPr/>
        </p:nvSpPr>
        <p:spPr>
          <a:xfrm>
            <a:off x="756231" y="4640215"/>
            <a:ext cx="796814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Enabling smart city planning, simulating policy outcomes, and enhancing public service delivery through data-driven insights.</a:t>
            </a:r>
            <a:endParaRPr lang="en-US" sz="1200" dirty="0">
              <a:latin typeface="Calibri" panose="020F0502020204030204"/>
            </a:endParaRPr>
          </a:p>
          <a:p>
            <a:endParaRPr lang="en-US" sz="1200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B1459FC-4C03-4F52-3185-4AC65A10D834}"/>
              </a:ext>
            </a:extLst>
          </p:cNvPr>
          <p:cNvSpPr txBox="1"/>
          <p:nvPr/>
        </p:nvSpPr>
        <p:spPr>
          <a:xfrm>
            <a:off x="756231" y="3789618"/>
            <a:ext cx="7855147" cy="6617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Predicting crop yields, detecting pests and diseases early, and optimizing irrigation and fertilization for sustainable farming.</a:t>
            </a:r>
            <a:endParaRPr lang="en-US" sz="1200" dirty="0">
              <a:latin typeface="Calibri" panose="020F0502020204030204"/>
            </a:endParaRPr>
          </a:p>
          <a:p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BAF84D91-BE60-011B-2607-0A03F07CD98A}"/>
              </a:ext>
            </a:extLst>
          </p:cNvPr>
          <p:cNvSpPr/>
          <p:nvPr/>
        </p:nvSpPr>
        <p:spPr>
          <a:xfrm>
            <a:off x="1167003" y="234891"/>
            <a:ext cx="6492326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defTabSz="640048">
              <a:lnSpc>
                <a:spcPts val="3605"/>
              </a:lnSpc>
            </a:pPr>
            <a:r>
              <a:rPr lang="en-US" sz="2900" dirty="0">
                <a:latin typeface="Montserrat" pitchFamily="34" charset="0"/>
                <a:ea typeface="Montserrat" pitchFamily="34" charset="-122"/>
                <a:cs typeface="Montserrat" pitchFamily="34" charset="-120"/>
              </a:rPr>
              <a:t>Hardware Requirements of ML</a:t>
            </a:r>
            <a:endParaRPr lang="en-US" sz="29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415FD50-9C52-63CD-6395-74BDB4DA47AA}"/>
              </a:ext>
            </a:extLst>
          </p:cNvPr>
          <p:cNvSpPr txBox="1"/>
          <p:nvPr/>
        </p:nvSpPr>
        <p:spPr>
          <a:xfrm>
            <a:off x="716237" y="844491"/>
            <a:ext cx="7711526" cy="4770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1600" dirty="0">
              <a:latin typeface="Heebo Light" pitchFamily="2" charset="-79"/>
              <a:cs typeface="Heebo Light" pitchFamily="2" charset="-79"/>
            </a:endParaRPr>
          </a:p>
          <a:p>
            <a:r>
              <a:rPr lang="en-US" sz="1600" dirty="0">
                <a:latin typeface="Heebo Light" pitchFamily="2" charset="-79"/>
                <a:cs typeface="Heebo Light" pitchFamily="2" charset="-79"/>
              </a:rPr>
              <a:t>Actually, It depends.</a:t>
            </a:r>
          </a:p>
          <a:p>
            <a:endParaRPr lang="en-US" sz="1600" dirty="0">
              <a:latin typeface="Heebo Light" pitchFamily="2" charset="-79"/>
              <a:cs typeface="Heebo Light" pitchFamily="2" charset="-79"/>
            </a:endParaRPr>
          </a:p>
          <a:p>
            <a:r>
              <a:rPr lang="en-US" sz="1600" dirty="0">
                <a:latin typeface="Heebo Light" pitchFamily="2" charset="-79"/>
                <a:cs typeface="Heebo Light" pitchFamily="2" charset="-79"/>
              </a:rPr>
              <a:t>If you are a beginner and want to learn ML, a basic 4GB Ram Desktop, Laptop, or even a Mobile phone can be used, but usually small and text-based datasets are used.</a:t>
            </a:r>
          </a:p>
          <a:p>
            <a:endParaRPr lang="en-US" sz="1600" dirty="0">
              <a:latin typeface="Heebo Light" pitchFamily="2" charset="-79"/>
              <a:cs typeface="Heebo Light" pitchFamily="2" charset="-79"/>
            </a:endParaRPr>
          </a:p>
          <a:p>
            <a:r>
              <a:rPr lang="en-US" sz="1600" dirty="0">
                <a:latin typeface="Heebo Light" pitchFamily="2" charset="-79"/>
                <a:cs typeface="Heebo Light" pitchFamily="2" charset="-79"/>
              </a:rPr>
              <a:t>But if you want to build a proper project, perform data analysis and create some models (like CNN, NLP models) on huge dataset:</a:t>
            </a:r>
          </a:p>
          <a:p>
            <a:endParaRPr lang="en-US" sz="1600" dirty="0">
              <a:latin typeface="Heebo Light" pitchFamily="2" charset="-79"/>
              <a:cs typeface="Heebo Light" pitchFamily="2" charset="-79"/>
            </a:endParaRPr>
          </a:p>
          <a:p>
            <a:endParaRPr lang="en-US" sz="1600" dirty="0">
              <a:latin typeface="Heebo Light" pitchFamily="2" charset="-79"/>
              <a:cs typeface="Heebo Light" pitchFamily="2" charset="-79"/>
            </a:endParaRPr>
          </a:p>
          <a:p>
            <a:endParaRPr lang="en-US" sz="1600" dirty="0">
              <a:latin typeface="Heebo Light" pitchFamily="2" charset="-79"/>
              <a:cs typeface="Heebo Light" pitchFamily="2" charset="-79"/>
            </a:endParaRPr>
          </a:p>
          <a:p>
            <a:endParaRPr lang="en-US" sz="1600" dirty="0">
              <a:latin typeface="Heebo Light" pitchFamily="2" charset="-79"/>
              <a:cs typeface="Heebo Light" pitchFamily="2" charset="-79"/>
            </a:endParaRPr>
          </a:p>
          <a:p>
            <a:endParaRPr lang="en-US" sz="1600" dirty="0">
              <a:latin typeface="Heebo Light" pitchFamily="2" charset="-79"/>
              <a:cs typeface="Heebo Light" pitchFamily="2" charset="-79"/>
            </a:endParaRPr>
          </a:p>
          <a:p>
            <a:endParaRPr lang="en-US" sz="1600" dirty="0">
              <a:latin typeface="Heebo Light" pitchFamily="2" charset="-79"/>
              <a:cs typeface="Heebo Light" pitchFamily="2" charset="-79"/>
            </a:endParaRPr>
          </a:p>
          <a:p>
            <a:endParaRPr lang="en-US" sz="1600" dirty="0">
              <a:latin typeface="Heebo Light" pitchFamily="2" charset="-79"/>
              <a:cs typeface="Heebo Light" pitchFamily="2" charset="-79"/>
            </a:endParaRPr>
          </a:p>
          <a:p>
            <a:r>
              <a:rPr lang="en-US" sz="1600" dirty="0">
                <a:latin typeface="Heebo Light" pitchFamily="2" charset="-79"/>
                <a:cs typeface="Heebo Light" pitchFamily="2" charset="-79"/>
              </a:rPr>
              <a:t>But for actual production level (like training LLMs, Custom Object Detection):</a:t>
            </a:r>
          </a:p>
          <a:p>
            <a:endParaRPr lang="en-US" sz="1600" dirty="0">
              <a:latin typeface="Heebo Light" pitchFamily="2" charset="-79"/>
              <a:cs typeface="Heebo Light" pitchFamily="2" charset="-79"/>
            </a:endParaRPr>
          </a:p>
          <a:p>
            <a:endParaRPr lang="en-US" sz="1600" dirty="0">
              <a:latin typeface="Heebo Light" pitchFamily="2" charset="-79"/>
              <a:cs typeface="Heebo Light" pitchFamily="2" charset="-79"/>
            </a:endParaRP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0FD9C64B-D244-599B-6F36-FBA45AA75D6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07759120"/>
              </p:ext>
            </p:extLst>
          </p:nvPr>
        </p:nvGraphicFramePr>
        <p:xfrm>
          <a:off x="716237" y="3124200"/>
          <a:ext cx="7320116" cy="1382465"/>
        </p:xfrm>
        <a:graphic>
          <a:graphicData uri="http://schemas.openxmlformats.org/drawingml/2006/table">
            <a:tbl>
              <a:tblPr bandRow="1">
                <a:tableStyleId>{2D5ABB26-0587-4C30-8999-92F81FD0307C}</a:tableStyleId>
              </a:tblPr>
              <a:tblGrid>
                <a:gridCol w="1722163">
                  <a:extLst>
                    <a:ext uri="{9D8B030D-6E8A-4147-A177-3AD203B41FA5}">
                      <a16:colId xmlns:a16="http://schemas.microsoft.com/office/drawing/2014/main" val="3579780464"/>
                    </a:ext>
                  </a:extLst>
                </a:gridCol>
                <a:gridCol w="5597953">
                  <a:extLst>
                    <a:ext uri="{9D8B030D-6E8A-4147-A177-3AD203B41FA5}">
                      <a16:colId xmlns:a16="http://schemas.microsoft.com/office/drawing/2014/main" val="3787241270"/>
                    </a:ext>
                  </a:extLst>
                </a:gridCol>
              </a:tblGrid>
              <a:tr h="323209">
                <a:tc>
                  <a:txBody>
                    <a:bodyPr/>
                    <a:lstStyle/>
                    <a:p>
                      <a:pPr algn="l"/>
                      <a:r>
                        <a:rPr lang="en-US" sz="1200" dirty="0"/>
                        <a:t>RAM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8GB DDR5 (16GB Recommended)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45965603"/>
                  </a:ext>
                </a:extLst>
              </a:tr>
              <a:tr h="323209">
                <a:tc>
                  <a:txBody>
                    <a:bodyPr/>
                    <a:lstStyle/>
                    <a:p>
                      <a:r>
                        <a:rPr lang="en-US" sz="1200" dirty="0"/>
                        <a:t>CPU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Intel i5 12</a:t>
                      </a:r>
                      <a:r>
                        <a:rPr lang="en-US" sz="1200" baseline="30000" dirty="0"/>
                        <a:t>th</a:t>
                      </a:r>
                      <a:r>
                        <a:rPr lang="en-US" sz="1200" dirty="0"/>
                        <a:t> Gen (i7 Recommended)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95307509"/>
                  </a:ext>
                </a:extLst>
              </a:tr>
              <a:tr h="187256">
                <a:tc>
                  <a:txBody>
                    <a:bodyPr/>
                    <a:lstStyle/>
                    <a:p>
                      <a:r>
                        <a:rPr lang="en-US" sz="1200" dirty="0"/>
                        <a:t>GPU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256GB (512GB Recommended)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61227221"/>
                  </a:ext>
                </a:extLst>
              </a:tr>
              <a:tr h="461727">
                <a:tc>
                  <a:txBody>
                    <a:bodyPr/>
                    <a:lstStyle/>
                    <a:p>
                      <a:r>
                        <a:rPr lang="en-US" sz="1200" dirty="0"/>
                        <a:t>Storage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/>
                        <a:t>4-6 GB DDR5 (NVIDIA GPU with CUDA like GTX 1660, RTX 2060)</a:t>
                      </a:r>
                    </a:p>
                    <a:p>
                      <a:endParaRPr 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38632266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F5920925-00CD-3DBB-F1D9-AD601857E37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44725419"/>
              </p:ext>
            </p:extLst>
          </p:nvPr>
        </p:nvGraphicFramePr>
        <p:xfrm>
          <a:off x="716237" y="5105400"/>
          <a:ext cx="6858000" cy="1382465"/>
        </p:xfrm>
        <a:graphic>
          <a:graphicData uri="http://schemas.openxmlformats.org/drawingml/2006/table">
            <a:tbl>
              <a:tblPr bandRow="1">
                <a:tableStyleId>{2D5ABB26-0587-4C30-8999-92F81FD0307C}</a:tableStyleId>
              </a:tblPr>
              <a:tblGrid>
                <a:gridCol w="1722163">
                  <a:extLst>
                    <a:ext uri="{9D8B030D-6E8A-4147-A177-3AD203B41FA5}">
                      <a16:colId xmlns:a16="http://schemas.microsoft.com/office/drawing/2014/main" val="3579780464"/>
                    </a:ext>
                  </a:extLst>
                </a:gridCol>
                <a:gridCol w="5135837">
                  <a:extLst>
                    <a:ext uri="{9D8B030D-6E8A-4147-A177-3AD203B41FA5}">
                      <a16:colId xmlns:a16="http://schemas.microsoft.com/office/drawing/2014/main" val="3787241270"/>
                    </a:ext>
                  </a:extLst>
                </a:gridCol>
              </a:tblGrid>
              <a:tr h="323209">
                <a:tc>
                  <a:txBody>
                    <a:bodyPr/>
                    <a:lstStyle/>
                    <a:p>
                      <a:pPr algn="l"/>
                      <a:r>
                        <a:rPr lang="en-US" sz="1200" dirty="0"/>
                        <a:t>RAM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32GB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45965603"/>
                  </a:ext>
                </a:extLst>
              </a:tr>
              <a:tr h="323209">
                <a:tc>
                  <a:txBody>
                    <a:bodyPr/>
                    <a:lstStyle/>
                    <a:p>
                      <a:r>
                        <a:rPr lang="en-US" sz="1200" dirty="0"/>
                        <a:t>CPU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Intel i7 or i9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95307509"/>
                  </a:ext>
                </a:extLst>
              </a:tr>
              <a:tr h="187256">
                <a:tc>
                  <a:txBody>
                    <a:bodyPr/>
                    <a:lstStyle/>
                    <a:p>
                      <a:r>
                        <a:rPr lang="en-US" sz="1200" dirty="0"/>
                        <a:t>GPU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1TB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61227221"/>
                  </a:ext>
                </a:extLst>
              </a:tr>
              <a:tr h="461727">
                <a:tc>
                  <a:txBody>
                    <a:bodyPr/>
                    <a:lstStyle/>
                    <a:p>
                      <a:r>
                        <a:rPr lang="en-US" sz="1200" dirty="0"/>
                        <a:t>Storage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NVIDIA RTX 3080 or above.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3863226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6547450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79702BA9-1A95-0CA4-9791-5A3B75AD721E}"/>
              </a:ext>
            </a:extLst>
          </p:cNvPr>
          <p:cNvSpPr/>
          <p:nvPr/>
        </p:nvSpPr>
        <p:spPr>
          <a:xfrm>
            <a:off x="1066800" y="457200"/>
            <a:ext cx="6492326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defTabSz="640048">
              <a:lnSpc>
                <a:spcPts val="3605"/>
              </a:lnSpc>
            </a:pPr>
            <a:r>
              <a:rPr lang="en-US" sz="2900" dirty="0"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Requirements to Learn ML</a:t>
            </a:r>
            <a:endParaRPr lang="en-US" sz="29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B2B0E06-612E-6E5A-14D5-8D8337506773}"/>
              </a:ext>
            </a:extLst>
          </p:cNvPr>
          <p:cNvSpPr txBox="1"/>
          <p:nvPr/>
        </p:nvSpPr>
        <p:spPr>
          <a:xfrm>
            <a:off x="746674" y="1261580"/>
            <a:ext cx="7711526" cy="5016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Heebo Light" pitchFamily="2" charset="-79"/>
                <a:cs typeface="Heebo Light" pitchFamily="2" charset="-79"/>
              </a:rPr>
              <a:t>1. Mathematics:</a:t>
            </a:r>
          </a:p>
          <a:p>
            <a:r>
              <a:rPr lang="en-US" sz="1600" dirty="0">
                <a:latin typeface="Heebo Light" pitchFamily="2" charset="-79"/>
                <a:cs typeface="Heebo Light" pitchFamily="2" charset="-79"/>
              </a:rPr>
              <a:t>	Linear Algebra, Calculus, Probability &amp; Statistics, Optimization.</a:t>
            </a:r>
          </a:p>
          <a:p>
            <a:endParaRPr lang="en-US" sz="1600" dirty="0">
              <a:latin typeface="Heebo Light" pitchFamily="2" charset="-79"/>
              <a:cs typeface="Heebo Light" pitchFamily="2" charset="-79"/>
            </a:endParaRPr>
          </a:p>
          <a:p>
            <a:r>
              <a:rPr lang="en-US" sz="1600" dirty="0">
                <a:latin typeface="Heebo Light" pitchFamily="2" charset="-79"/>
                <a:cs typeface="Heebo Light" pitchFamily="2" charset="-79"/>
              </a:rPr>
              <a:t>2. Programming:</a:t>
            </a:r>
          </a:p>
          <a:p>
            <a:r>
              <a:rPr lang="en-US" sz="1600" dirty="0">
                <a:latin typeface="Heebo Light" pitchFamily="2" charset="-79"/>
                <a:cs typeface="Heebo Light" pitchFamily="2" charset="-79"/>
              </a:rPr>
              <a:t>	Language - Python</a:t>
            </a:r>
          </a:p>
          <a:p>
            <a:r>
              <a:rPr lang="en-US" sz="1600" dirty="0">
                <a:latin typeface="Heebo Light" pitchFamily="2" charset="-79"/>
                <a:cs typeface="Heebo Light" pitchFamily="2" charset="-79"/>
              </a:rPr>
              <a:t>	Libraries   - NumPy, Pandas, Matplotlib</a:t>
            </a:r>
          </a:p>
          <a:p>
            <a:endParaRPr lang="en-US" sz="1600" dirty="0">
              <a:latin typeface="Heebo Light" pitchFamily="2" charset="-79"/>
              <a:cs typeface="Heebo Light" pitchFamily="2" charset="-79"/>
            </a:endParaRPr>
          </a:p>
          <a:p>
            <a:r>
              <a:rPr lang="en-US" sz="1600" dirty="0">
                <a:latin typeface="Heebo Light" pitchFamily="2" charset="-79"/>
                <a:cs typeface="Heebo Light" pitchFamily="2" charset="-79"/>
              </a:rPr>
              <a:t>3. Tools and Frameworks:</a:t>
            </a:r>
          </a:p>
          <a:p>
            <a:r>
              <a:rPr lang="en-US" sz="1600" dirty="0">
                <a:latin typeface="Heebo Light" pitchFamily="2" charset="-79"/>
                <a:cs typeface="Heebo Light" pitchFamily="2" charset="-79"/>
              </a:rPr>
              <a:t>	scikit-learn                   – Basic ML</a:t>
            </a:r>
          </a:p>
          <a:p>
            <a:r>
              <a:rPr lang="en-US" sz="1600" dirty="0">
                <a:latin typeface="Heebo Light" pitchFamily="2" charset="-79"/>
                <a:cs typeface="Heebo Light" pitchFamily="2" charset="-79"/>
              </a:rPr>
              <a:t>	TensorFlow/PyTorch – Deep Learning</a:t>
            </a:r>
          </a:p>
          <a:p>
            <a:r>
              <a:rPr lang="en-US" sz="1600" dirty="0">
                <a:latin typeface="Heebo Light" pitchFamily="2" charset="-79"/>
                <a:cs typeface="Heebo Light" pitchFamily="2" charset="-79"/>
              </a:rPr>
              <a:t>	Seaborn, Plotly            – Visualization</a:t>
            </a:r>
          </a:p>
          <a:p>
            <a:endParaRPr lang="en-US" sz="1600" dirty="0">
              <a:latin typeface="Heebo Light" pitchFamily="2" charset="-79"/>
              <a:cs typeface="Heebo Light" pitchFamily="2" charset="-79"/>
            </a:endParaRPr>
          </a:p>
          <a:p>
            <a:r>
              <a:rPr lang="en-US" sz="1600" dirty="0">
                <a:latin typeface="Heebo Light" pitchFamily="2" charset="-79"/>
                <a:cs typeface="Heebo Light" pitchFamily="2" charset="-79"/>
              </a:rPr>
              <a:t>4. Data Handling:</a:t>
            </a:r>
          </a:p>
          <a:p>
            <a:r>
              <a:rPr lang="en-US" sz="1600" dirty="0">
                <a:latin typeface="Heebo Light" pitchFamily="2" charset="-79"/>
                <a:cs typeface="Heebo Light" pitchFamily="2" charset="-79"/>
              </a:rPr>
              <a:t>	Data Cleaning, Preprocessing, Feature Engineering, Splitting Data.</a:t>
            </a:r>
          </a:p>
          <a:p>
            <a:endParaRPr lang="en-US" sz="1600" dirty="0">
              <a:latin typeface="Heebo Light" pitchFamily="2" charset="-79"/>
              <a:cs typeface="Heebo Light" pitchFamily="2" charset="-79"/>
            </a:endParaRPr>
          </a:p>
          <a:p>
            <a:r>
              <a:rPr lang="en-US" sz="1600" dirty="0">
                <a:latin typeface="Heebo Light" pitchFamily="2" charset="-79"/>
                <a:cs typeface="Heebo Light" pitchFamily="2" charset="-79"/>
              </a:rPr>
              <a:t>5. Core ML Concepts:</a:t>
            </a:r>
          </a:p>
          <a:p>
            <a:r>
              <a:rPr lang="en-US" sz="1600" dirty="0">
                <a:latin typeface="Heebo Light" pitchFamily="2" charset="-79"/>
                <a:cs typeface="Heebo Light" pitchFamily="2" charset="-79"/>
              </a:rPr>
              <a:t>	Supervised and Unsupervised Learning</a:t>
            </a:r>
          </a:p>
          <a:p>
            <a:r>
              <a:rPr lang="en-US" sz="1600" dirty="0">
                <a:latin typeface="Heebo Light" pitchFamily="2" charset="-79"/>
                <a:cs typeface="Heebo Light" pitchFamily="2" charset="-79"/>
              </a:rPr>
              <a:t>	Evaluation Metrics (Accuracy, F1, ROC-AUC)</a:t>
            </a:r>
          </a:p>
          <a:p>
            <a:r>
              <a:rPr lang="en-US" sz="1600" dirty="0">
                <a:latin typeface="Heebo Light" pitchFamily="2" charset="-79"/>
                <a:cs typeface="Heebo Light" pitchFamily="2" charset="-79"/>
              </a:rPr>
              <a:t>	Overfitting and Underfitting</a:t>
            </a:r>
          </a:p>
          <a:p>
            <a:r>
              <a:rPr lang="en-US" sz="1600" dirty="0">
                <a:latin typeface="Heebo Light" pitchFamily="2" charset="-79"/>
                <a:cs typeface="Heebo Light" pitchFamily="2" charset="-79"/>
              </a:rPr>
              <a:t>	Cross Validation</a:t>
            </a:r>
          </a:p>
        </p:txBody>
      </p:sp>
    </p:spTree>
    <p:extLst>
      <p:ext uri="{BB962C8B-B14F-4D97-AF65-F5344CB8AC3E}">
        <p14:creationId xmlns:p14="http://schemas.microsoft.com/office/powerpoint/2010/main" val="211352784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5BE4EF6C-63F9-345C-5414-F031850036D3}"/>
              </a:ext>
            </a:extLst>
          </p:cNvPr>
          <p:cNvSpPr/>
          <p:nvPr/>
        </p:nvSpPr>
        <p:spPr>
          <a:xfrm>
            <a:off x="1066800" y="457200"/>
            <a:ext cx="6492326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defTabSz="640048">
              <a:lnSpc>
                <a:spcPts val="3605"/>
              </a:lnSpc>
            </a:pPr>
            <a:r>
              <a:rPr lang="en-US" sz="2900" dirty="0">
                <a:latin typeface="Montserrat" pitchFamily="34" charset="0"/>
              </a:rPr>
              <a:t>Real World Examples</a:t>
            </a:r>
            <a:endParaRPr lang="en-US" sz="29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92158B3-A46D-6F46-20CA-7CD16891CA37}"/>
              </a:ext>
            </a:extLst>
          </p:cNvPr>
          <p:cNvSpPr txBox="1"/>
          <p:nvPr/>
        </p:nvSpPr>
        <p:spPr>
          <a:xfrm>
            <a:off x="668593" y="3636764"/>
            <a:ext cx="2057400" cy="381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SONAR Systems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58CFE61-78E1-8F60-836C-26113E8116E2}"/>
              </a:ext>
            </a:extLst>
          </p:cNvPr>
          <p:cNvSpPr txBox="1"/>
          <p:nvPr/>
        </p:nvSpPr>
        <p:spPr>
          <a:xfrm>
            <a:off x="661220" y="4125501"/>
            <a:ext cx="1843548" cy="20928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00" dirty="0">
                <a:latin typeface="Heebo" pitchFamily="2" charset="-79"/>
                <a:cs typeface="Heebo" pitchFamily="2" charset="-79"/>
              </a:rPr>
              <a:t>Difference in Salinity, Temperature and Pressure of water can affect the speed of sound in water.</a:t>
            </a:r>
          </a:p>
          <a:p>
            <a:r>
              <a:rPr lang="en-US" sz="1300" dirty="0">
                <a:latin typeface="Heebo" pitchFamily="2" charset="-79"/>
                <a:cs typeface="Heebo" pitchFamily="2" charset="-79"/>
              </a:rPr>
              <a:t>So, algorithms like Logistic Regression, SVM or CNN can be used for proper classification.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13E64D1-FF7B-AFED-3A2F-6C5D0F956845}"/>
              </a:ext>
            </a:extLst>
          </p:cNvPr>
          <p:cNvSpPr txBox="1"/>
          <p:nvPr/>
        </p:nvSpPr>
        <p:spPr>
          <a:xfrm>
            <a:off x="3311014" y="3636764"/>
            <a:ext cx="2057400" cy="381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Eye Retina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04FEAC1-6606-6726-4409-8CE66FC09755}"/>
              </a:ext>
            </a:extLst>
          </p:cNvPr>
          <p:cNvSpPr txBox="1"/>
          <p:nvPr/>
        </p:nvSpPr>
        <p:spPr>
          <a:xfrm>
            <a:off x="3293807" y="4125501"/>
            <a:ext cx="1843548" cy="18928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00" dirty="0">
                <a:latin typeface="Heebo" pitchFamily="2" charset="-79"/>
                <a:cs typeface="Heebo" pitchFamily="2" charset="-79"/>
              </a:rPr>
              <a:t>IKITES developed a Model which can detect Drusen, GA, etc. like problems in Eye Retinas using Deep Learning by analyzing OCT scans of Anterior Basement Membrane (ABM) of Eye.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5D9A547-E44A-0C86-DF1F-2C2990475E6F}"/>
              </a:ext>
            </a:extLst>
          </p:cNvPr>
          <p:cNvSpPr txBox="1"/>
          <p:nvPr/>
        </p:nvSpPr>
        <p:spPr>
          <a:xfrm>
            <a:off x="5995224" y="3636764"/>
            <a:ext cx="2057400" cy="381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Self Driving Cars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5CADB22-709F-021F-A794-163C8994C309}"/>
              </a:ext>
            </a:extLst>
          </p:cNvPr>
          <p:cNvSpPr txBox="1"/>
          <p:nvPr/>
        </p:nvSpPr>
        <p:spPr>
          <a:xfrm>
            <a:off x="5995224" y="4125501"/>
            <a:ext cx="1978741" cy="14927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00" dirty="0">
                <a:latin typeface="Heebo" pitchFamily="2" charset="-79"/>
                <a:cs typeface="Heebo" pitchFamily="2" charset="-79"/>
              </a:rPr>
              <a:t>Tesla developed its system called Autopilot, which recognizes traffic signs, and makes decisions using Computer Vision and Reinforcement Learning.</a:t>
            </a:r>
          </a:p>
        </p:txBody>
      </p:sp>
      <p:pic>
        <p:nvPicPr>
          <p:cNvPr id="12" name="Picture 11" descr="A boat in the water&#10;&#10;AI-generated content may be incorrect.">
            <a:extLst>
              <a:ext uri="{FF2B5EF4-FFF2-40B4-BE49-F238E27FC236}">
                <a16:creationId xmlns:a16="http://schemas.microsoft.com/office/drawing/2014/main" id="{468B6CC6-B7B8-CCC2-7725-4226AA479E4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8593" y="1371600"/>
            <a:ext cx="2057400" cy="2057400"/>
          </a:xfrm>
          <a:prstGeom prst="rect">
            <a:avLst/>
          </a:prstGeom>
        </p:spPr>
      </p:pic>
      <p:pic>
        <p:nvPicPr>
          <p:cNvPr id="14" name="Picture 13" descr="Diagram of a human eye anatomy&#10;&#10;AI-generated content may be incorrect.">
            <a:extLst>
              <a:ext uri="{FF2B5EF4-FFF2-40B4-BE49-F238E27FC236}">
                <a16:creationId xmlns:a16="http://schemas.microsoft.com/office/drawing/2014/main" id="{F44005C9-976B-8C2C-E6E2-50233F57066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76600" y="1536173"/>
            <a:ext cx="2110960" cy="1892827"/>
          </a:xfrm>
          <a:prstGeom prst="rect">
            <a:avLst/>
          </a:prstGeom>
        </p:spPr>
      </p:pic>
      <p:pic>
        <p:nvPicPr>
          <p:cNvPr id="18" name="Picture 17" descr="A car driving on a street&#10;&#10;AI-generated content may be incorrect.">
            <a:extLst>
              <a:ext uri="{FF2B5EF4-FFF2-40B4-BE49-F238E27FC236}">
                <a16:creationId xmlns:a16="http://schemas.microsoft.com/office/drawing/2014/main" id="{48A599F6-1FCD-FBE6-B313-AA4F8CC2054A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38167" y="1465006"/>
            <a:ext cx="3003496" cy="20033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307192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3787A549-DE1B-77E9-99C8-BD04904AF943}"/>
              </a:ext>
            </a:extLst>
          </p:cNvPr>
          <p:cNvSpPr/>
          <p:nvPr/>
        </p:nvSpPr>
        <p:spPr>
          <a:xfrm>
            <a:off x="1127674" y="457200"/>
            <a:ext cx="6492326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defTabSz="640048">
              <a:lnSpc>
                <a:spcPts val="3605"/>
              </a:lnSpc>
            </a:pPr>
            <a:r>
              <a:rPr lang="en-US" sz="2900" dirty="0">
                <a:latin typeface="Montserrat" pitchFamily="34" charset="0"/>
                <a:ea typeface="Montserrat" pitchFamily="34" charset="-122"/>
                <a:cs typeface="Montserrat" pitchFamily="34" charset="-120"/>
              </a:rPr>
              <a:t>Challenge in Machine Learning</a:t>
            </a:r>
            <a:endParaRPr lang="en-US" sz="29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E054DF8-C892-36A8-3C01-67CB6C875694}"/>
              </a:ext>
            </a:extLst>
          </p:cNvPr>
          <p:cNvSpPr txBox="1"/>
          <p:nvPr/>
        </p:nvSpPr>
        <p:spPr>
          <a:xfrm>
            <a:off x="457200" y="1371600"/>
            <a:ext cx="8153400" cy="48936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📉 Data Quality and Availability </a:t>
            </a:r>
            <a:r>
              <a:rPr lang="en-US" b="1" dirty="0"/>
              <a:t>:</a:t>
            </a:r>
          </a:p>
          <a:p>
            <a:r>
              <a:rPr lang="en-US" b="1" dirty="0"/>
              <a:t>      </a:t>
            </a:r>
            <a:r>
              <a:rPr lang="en-US" sz="1400" dirty="0">
                <a:latin typeface="Malgun Gothic" panose="020B0503020000020004" pitchFamily="34" charset="-127"/>
                <a:ea typeface="Malgun Gothic" panose="020B0503020000020004" pitchFamily="34" charset="-127"/>
              </a:rPr>
              <a:t>ML is data-hungry — poor, noisy, or insufficient data leads to poor performance.</a:t>
            </a:r>
          </a:p>
          <a:p>
            <a:endParaRPr lang="en-US" sz="1400" dirty="0"/>
          </a:p>
          <a:p>
            <a:r>
              <a:rPr lang="en-US" dirty="0"/>
              <a:t>🧠 Overfitting &amp; Underfitting</a:t>
            </a:r>
          </a:p>
          <a:p>
            <a:r>
              <a:rPr lang="en-US" dirty="0"/>
              <a:t>      </a:t>
            </a:r>
            <a:r>
              <a:rPr lang="en-US" sz="1400" dirty="0">
                <a:latin typeface="Malgun Gothic" panose="020B0503020000020004" pitchFamily="34" charset="-127"/>
                <a:ea typeface="Malgun Gothic" panose="020B0503020000020004" pitchFamily="34" charset="-127"/>
              </a:rPr>
              <a:t>Requires careful model tuning and validation, otherwise either it will assume nothing or</a:t>
            </a:r>
          </a:p>
          <a:p>
            <a:r>
              <a:rPr lang="en-US" sz="1400" dirty="0">
                <a:latin typeface="Malgun Gothic" panose="020B0503020000020004" pitchFamily="34" charset="-127"/>
                <a:ea typeface="Malgun Gothic" panose="020B0503020000020004" pitchFamily="34" charset="-127"/>
              </a:rPr>
              <a:t>     assume things overly.</a:t>
            </a:r>
          </a:p>
          <a:p>
            <a:endParaRPr lang="en-US" sz="1400" dirty="0">
              <a:latin typeface="Malgun Gothic" panose="020B0503020000020004" pitchFamily="34" charset="-127"/>
              <a:ea typeface="Malgun Gothic" panose="020B0503020000020004" pitchFamily="34" charset="-127"/>
            </a:endParaRPr>
          </a:p>
          <a:p>
            <a:r>
              <a:rPr lang="en-US" dirty="0"/>
              <a:t>🧾 Interpretability &amp; Transparency</a:t>
            </a:r>
          </a:p>
          <a:p>
            <a:r>
              <a:rPr lang="en-US" sz="1400" dirty="0">
                <a:latin typeface="Malgun Gothic" panose="020B0503020000020004" pitchFamily="34" charset="-127"/>
                <a:ea typeface="Malgun Gothic" panose="020B0503020000020004" pitchFamily="34" charset="-127"/>
              </a:rPr>
              <a:t>      Complex models are often “black boxes”. So, many times it is difficult to explain why a</a:t>
            </a:r>
          </a:p>
          <a:p>
            <a:r>
              <a:rPr lang="en-US" sz="1400" dirty="0">
                <a:latin typeface="Malgun Gothic" panose="020B0503020000020004" pitchFamily="34" charset="-127"/>
                <a:ea typeface="Malgun Gothic" panose="020B0503020000020004" pitchFamily="34" charset="-127"/>
              </a:rPr>
              <a:t>      model made a specific decision, risky in critical domains.</a:t>
            </a:r>
          </a:p>
          <a:p>
            <a:endParaRPr lang="en-US" sz="1400" dirty="0">
              <a:latin typeface="Malgun Gothic" panose="020B0503020000020004" pitchFamily="34" charset="-127"/>
              <a:ea typeface="Malgun Gothic" panose="020B0503020000020004" pitchFamily="34" charset="-127"/>
            </a:endParaRPr>
          </a:p>
          <a:p>
            <a:r>
              <a:rPr lang="en-US" dirty="0"/>
              <a:t>⚖️ Bias &amp; Fairness</a:t>
            </a:r>
          </a:p>
          <a:p>
            <a:r>
              <a:rPr lang="en-US" sz="1400" dirty="0">
                <a:latin typeface="Malgun Gothic" panose="020B0503020000020004" pitchFamily="34" charset="-127"/>
                <a:ea typeface="Malgun Gothic" panose="020B0503020000020004" pitchFamily="34" charset="-127"/>
              </a:rPr>
              <a:t>      Bias in model leads to unfair decisions in hiring, lending, law enforcement.</a:t>
            </a:r>
          </a:p>
          <a:p>
            <a:endParaRPr lang="en-US" sz="1400" dirty="0">
              <a:latin typeface="Malgun Gothic" panose="020B0503020000020004" pitchFamily="34" charset="-127"/>
              <a:ea typeface="Malgun Gothic" panose="020B0503020000020004" pitchFamily="34" charset="-127"/>
            </a:endParaRPr>
          </a:p>
          <a:p>
            <a:r>
              <a:rPr lang="en-US" dirty="0"/>
              <a:t>🖥️ Computational Cost</a:t>
            </a:r>
          </a:p>
          <a:p>
            <a:r>
              <a:rPr lang="en-US" sz="1400" dirty="0">
                <a:latin typeface="Malgun Gothic" panose="020B0503020000020004" pitchFamily="34" charset="-127"/>
                <a:ea typeface="Malgun Gothic" panose="020B0503020000020004" pitchFamily="34" charset="-127"/>
              </a:rPr>
              <a:t>      Training large models requires </a:t>
            </a:r>
            <a:r>
              <a:rPr lang="en-US" sz="1400" b="1" dirty="0">
                <a:latin typeface="Malgun Gothic" panose="020B0503020000020004" pitchFamily="34" charset="-127"/>
                <a:ea typeface="Malgun Gothic" panose="020B0503020000020004" pitchFamily="34" charset="-127"/>
              </a:rPr>
              <a:t>high-end hardware</a:t>
            </a:r>
            <a:r>
              <a:rPr lang="en-US" sz="1400" dirty="0">
                <a:latin typeface="Malgun Gothic" panose="020B0503020000020004" pitchFamily="34" charset="-127"/>
                <a:ea typeface="Malgun Gothic" panose="020B0503020000020004" pitchFamily="34" charset="-127"/>
              </a:rPr>
              <a:t> (GPUs/TPUs) and energy.</a:t>
            </a:r>
          </a:p>
          <a:p>
            <a:endParaRPr lang="en-US" sz="1400" dirty="0">
              <a:latin typeface="Malgun Gothic" panose="020B0503020000020004" pitchFamily="34" charset="-127"/>
              <a:ea typeface="Malgun Gothic" panose="020B0503020000020004" pitchFamily="34" charset="-127"/>
            </a:endParaRPr>
          </a:p>
          <a:p>
            <a:r>
              <a:rPr lang="en-US" dirty="0"/>
              <a:t>🔄 Continual Learning &amp; Concept Drift</a:t>
            </a:r>
          </a:p>
          <a:p>
            <a:r>
              <a:rPr lang="en-US" sz="1400" dirty="0">
                <a:latin typeface="Malgun Gothic" panose="020B0503020000020004" pitchFamily="34" charset="-127"/>
                <a:ea typeface="Malgun Gothic" panose="020B0503020000020004" pitchFamily="34" charset="-127"/>
              </a:rPr>
              <a:t>      Real-world data changes over time (e.g., user behavior, market trends). Models must adapt</a:t>
            </a:r>
          </a:p>
          <a:p>
            <a:r>
              <a:rPr lang="en-US" sz="1400" dirty="0">
                <a:latin typeface="Malgun Gothic" panose="020B0503020000020004" pitchFamily="34" charset="-127"/>
                <a:ea typeface="Malgun Gothic" panose="020B0503020000020004" pitchFamily="34" charset="-127"/>
              </a:rPr>
              <a:t>      without full retraining, a current research challenge.</a:t>
            </a:r>
          </a:p>
        </p:txBody>
      </p:sp>
    </p:spTree>
    <p:extLst>
      <p:ext uri="{BB962C8B-B14F-4D97-AF65-F5344CB8AC3E}">
        <p14:creationId xmlns:p14="http://schemas.microsoft.com/office/powerpoint/2010/main" val="399386036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>
            <a:extLst>
              <a:ext uri="{FF2B5EF4-FFF2-40B4-BE49-F238E27FC236}">
                <a16:creationId xmlns:a16="http://schemas.microsoft.com/office/drawing/2014/main" id="{08149544-1584-FB42-38F8-E9303E970C35}"/>
              </a:ext>
            </a:extLst>
          </p:cNvPr>
          <p:cNvSpPr/>
          <p:nvPr/>
        </p:nvSpPr>
        <p:spPr>
          <a:xfrm>
            <a:off x="1066800" y="457200"/>
            <a:ext cx="6492326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defTabSz="640048">
              <a:lnSpc>
                <a:spcPts val="3605"/>
              </a:lnSpc>
            </a:pPr>
            <a:r>
              <a:rPr lang="en-US" sz="2900" dirty="0">
                <a:latin typeface="Montserrat" pitchFamily="34" charset="0"/>
                <a:ea typeface="Montserrat" pitchFamily="34" charset="-122"/>
                <a:cs typeface="Montserrat" pitchFamily="34" charset="-120"/>
              </a:rPr>
              <a:t>Future of Machine Learning</a:t>
            </a:r>
            <a:endParaRPr lang="en-US" sz="29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11E4EA5-3D8E-F9D8-773D-45B8EFE334AF}"/>
              </a:ext>
            </a:extLst>
          </p:cNvPr>
          <p:cNvSpPr txBox="1"/>
          <p:nvPr/>
        </p:nvSpPr>
        <p:spPr>
          <a:xfrm>
            <a:off x="228600" y="1371600"/>
            <a:ext cx="8382000" cy="49552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🧠 </a:t>
            </a:r>
            <a:r>
              <a:rPr lang="en-US" b="1" dirty="0"/>
              <a:t>General AI (AGI) – The Next Frontier</a:t>
            </a:r>
          </a:p>
          <a:p>
            <a:endParaRPr lang="en-US" sz="8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latin typeface="Malgun Gothic" panose="020B0503020000020004" pitchFamily="34" charset="-127"/>
                <a:ea typeface="Malgun Gothic" panose="020B0503020000020004" pitchFamily="34" charset="-127"/>
              </a:rPr>
              <a:t>Unlike current ML models that perform </a:t>
            </a:r>
            <a:r>
              <a:rPr lang="en-US" sz="1400" i="1" dirty="0">
                <a:latin typeface="Malgun Gothic" panose="020B0503020000020004" pitchFamily="34" charset="-127"/>
                <a:ea typeface="Malgun Gothic" panose="020B0503020000020004" pitchFamily="34" charset="-127"/>
              </a:rPr>
              <a:t>narrow tasks</a:t>
            </a:r>
            <a:r>
              <a:rPr lang="en-US" sz="1400" dirty="0">
                <a:latin typeface="Malgun Gothic" panose="020B0503020000020004" pitchFamily="34" charset="-127"/>
                <a:ea typeface="Malgun Gothic" panose="020B0503020000020004" pitchFamily="34" charset="-127"/>
              </a:rPr>
              <a:t>, AGI aims to mimic </a:t>
            </a:r>
            <a:r>
              <a:rPr lang="en-US" sz="1400" i="1" dirty="0">
                <a:latin typeface="Malgun Gothic" panose="020B0503020000020004" pitchFamily="34" charset="-127"/>
                <a:ea typeface="Malgun Gothic" panose="020B0503020000020004" pitchFamily="34" charset="-127"/>
              </a:rPr>
              <a:t>human-level reasoning</a:t>
            </a:r>
            <a:r>
              <a:rPr lang="en-US" sz="1400" dirty="0">
                <a:latin typeface="Malgun Gothic" panose="020B0503020000020004" pitchFamily="34" charset="-127"/>
                <a:ea typeface="Malgun Gothic" panose="020B0503020000020004" pitchFamily="34" charset="-127"/>
              </a:rPr>
              <a:t> and adapt across domains.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latin typeface="Malgun Gothic" panose="020B0503020000020004" pitchFamily="34" charset="-127"/>
                <a:ea typeface="Malgun Gothic" panose="020B0503020000020004" pitchFamily="34" charset="-127"/>
              </a:rPr>
              <a:t>Key goals: learning from fewer examples, autonomous decision-making, real-time adaptability.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latin typeface="Malgun Gothic" panose="020B0503020000020004" pitchFamily="34" charset="-127"/>
                <a:ea typeface="Malgun Gothic" panose="020B0503020000020004" pitchFamily="34" charset="-127"/>
              </a:rPr>
              <a:t>Still in research phase — poses both </a:t>
            </a:r>
            <a:r>
              <a:rPr lang="en-US" sz="1400" i="1" dirty="0">
                <a:latin typeface="Malgun Gothic" panose="020B0503020000020004" pitchFamily="34" charset="-127"/>
                <a:ea typeface="Malgun Gothic" panose="020B0503020000020004" pitchFamily="34" charset="-127"/>
              </a:rPr>
              <a:t>opportunities</a:t>
            </a:r>
            <a:r>
              <a:rPr lang="en-US" sz="1400" dirty="0">
                <a:latin typeface="Malgun Gothic" panose="020B0503020000020004" pitchFamily="34" charset="-127"/>
                <a:ea typeface="Malgun Gothic" panose="020B0503020000020004" pitchFamily="34" charset="-127"/>
              </a:rPr>
              <a:t> and </a:t>
            </a:r>
            <a:r>
              <a:rPr lang="en-US" sz="1400" i="1" dirty="0">
                <a:latin typeface="Malgun Gothic" panose="020B0503020000020004" pitchFamily="34" charset="-127"/>
                <a:ea typeface="Malgun Gothic" panose="020B0503020000020004" pitchFamily="34" charset="-127"/>
              </a:rPr>
              <a:t>existential questions</a:t>
            </a:r>
            <a:r>
              <a:rPr lang="en-US" sz="1400" dirty="0">
                <a:latin typeface="Malgun Gothic" panose="020B0503020000020004" pitchFamily="34" charset="-127"/>
                <a:ea typeface="Malgun Gothic" panose="020B0503020000020004" pitchFamily="34" charset="-127"/>
              </a:rPr>
              <a:t>.</a:t>
            </a:r>
          </a:p>
          <a:p>
            <a:endParaRPr lang="en-US" sz="1400" dirty="0"/>
          </a:p>
          <a:p>
            <a:r>
              <a:rPr lang="en-US" dirty="0"/>
              <a:t>⚖️ </a:t>
            </a:r>
            <a:r>
              <a:rPr lang="en-US" b="1" dirty="0"/>
              <a:t>Explainable &amp; Responsible AI</a:t>
            </a:r>
          </a:p>
          <a:p>
            <a:endParaRPr lang="en-US" sz="8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latin typeface="Malgun Gothic" panose="020B0503020000020004" pitchFamily="34" charset="-127"/>
                <a:ea typeface="Malgun Gothic" panose="020B0503020000020004" pitchFamily="34" charset="-127"/>
              </a:rPr>
              <a:t>As ML models become more complex, </a:t>
            </a:r>
            <a:r>
              <a:rPr lang="en-US" sz="1400" i="1" dirty="0">
                <a:latin typeface="Malgun Gothic" panose="020B0503020000020004" pitchFamily="34" charset="-127"/>
                <a:ea typeface="Malgun Gothic" panose="020B0503020000020004" pitchFamily="34" charset="-127"/>
              </a:rPr>
              <a:t>interpretability</a:t>
            </a:r>
            <a:r>
              <a:rPr lang="en-US" sz="1400" dirty="0">
                <a:latin typeface="Malgun Gothic" panose="020B0503020000020004" pitchFamily="34" charset="-127"/>
                <a:ea typeface="Malgun Gothic" panose="020B0503020000020004" pitchFamily="34" charset="-127"/>
              </a:rPr>
              <a:t> is critical.</a:t>
            </a:r>
            <a:r>
              <a:rPr lang="en-US" sz="1400" b="1" dirty="0">
                <a:latin typeface="Malgun Gothic" panose="020B0503020000020004" pitchFamily="34" charset="-127"/>
                <a:ea typeface="Malgun Gothic" panose="020B0503020000020004" pitchFamily="34" charset="-127"/>
              </a:rPr>
              <a:t> So, XAI m</a:t>
            </a:r>
            <a:r>
              <a:rPr lang="en-US" sz="1400" dirty="0">
                <a:latin typeface="Malgun Gothic" panose="020B0503020000020004" pitchFamily="34" charset="-127"/>
                <a:ea typeface="Malgun Gothic" panose="020B0503020000020004" pitchFamily="34" charset="-127"/>
              </a:rPr>
              <a:t>akes model decisions transparent for humans to understand.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400" dirty="0">
                <a:latin typeface="Malgun Gothic" panose="020B0503020000020004" pitchFamily="34" charset="-127"/>
                <a:ea typeface="Malgun Gothic" panose="020B0503020000020004" pitchFamily="34" charset="-127"/>
              </a:rPr>
              <a:t>Responsible AI ensures: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1400" dirty="0">
                <a:latin typeface="Malgun Gothic" panose="020B0503020000020004" pitchFamily="34" charset="-127"/>
                <a:ea typeface="Malgun Gothic" panose="020B0503020000020004" pitchFamily="34" charset="-127"/>
              </a:rPr>
              <a:t>Fairness (no bias)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1400" dirty="0">
                <a:latin typeface="Malgun Gothic" panose="020B0503020000020004" pitchFamily="34" charset="-127"/>
                <a:ea typeface="Malgun Gothic" panose="020B0503020000020004" pitchFamily="34" charset="-127"/>
              </a:rPr>
              <a:t>Accountability (traceability)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1400" dirty="0">
                <a:latin typeface="Malgun Gothic" panose="020B0503020000020004" pitchFamily="34" charset="-127"/>
                <a:ea typeface="Malgun Gothic" panose="020B0503020000020004" pitchFamily="34" charset="-127"/>
              </a:rPr>
              <a:t>Privacy (data protection)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400" dirty="0">
                <a:latin typeface="Malgun Gothic" panose="020B0503020000020004" pitchFamily="34" charset="-127"/>
                <a:ea typeface="Malgun Gothic" panose="020B0503020000020004" pitchFamily="34" charset="-127"/>
              </a:rPr>
              <a:t>Essential in fields like healthcare, law, and finance.</a:t>
            </a:r>
          </a:p>
          <a:p>
            <a:endParaRPr lang="en-US" sz="1400" dirty="0">
              <a:latin typeface="Malgun Gothic" panose="020B0503020000020004" pitchFamily="34" charset="-127"/>
              <a:ea typeface="Malgun Gothic" panose="020B0503020000020004" pitchFamily="34" charset="-127"/>
            </a:endParaRPr>
          </a:p>
          <a:p>
            <a:r>
              <a:rPr lang="en-US" dirty="0"/>
              <a:t>🔗 </a:t>
            </a:r>
            <a:r>
              <a:rPr lang="en-US" b="1" dirty="0"/>
              <a:t>ML + IoT + Quantum = Next-Gen Intelligence</a:t>
            </a:r>
          </a:p>
          <a:p>
            <a:endParaRPr lang="en-US" sz="800" b="1" dirty="0">
              <a:latin typeface="Malgun Gothic" panose="020B0503020000020004" pitchFamily="34" charset="-127"/>
              <a:ea typeface="Malgun Gothic" panose="020B0503020000020004" pitchFamily="34" charset="-127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>
                <a:latin typeface="Malgun Gothic" panose="020B0503020000020004" pitchFamily="34" charset="-127"/>
                <a:ea typeface="Malgun Gothic" panose="020B0503020000020004" pitchFamily="34" charset="-127"/>
              </a:rPr>
              <a:t>ML + IoT</a:t>
            </a:r>
            <a:r>
              <a:rPr lang="en-US" sz="1400" dirty="0">
                <a:latin typeface="Malgun Gothic" panose="020B0503020000020004" pitchFamily="34" charset="-127"/>
                <a:ea typeface="Malgun Gothic" panose="020B0503020000020004" pitchFamily="34" charset="-127"/>
              </a:rPr>
              <a:t>: Smart homes, predictive maintenance, wearable health monitoring.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/>
              <a:t>ML + Quantum Computing</a:t>
            </a:r>
            <a:r>
              <a:rPr lang="en-US" sz="1400" dirty="0"/>
              <a:t>:</a:t>
            </a:r>
            <a:endParaRPr lang="en-US" sz="1400" dirty="0">
              <a:latin typeface="Malgun Gothic" panose="020B0503020000020004" pitchFamily="34" charset="-127"/>
              <a:ea typeface="Malgun Gothic" panose="020B0503020000020004" pitchFamily="34" charset="-127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dirty="0">
                <a:latin typeface="Malgun Gothic" panose="020B0503020000020004" pitchFamily="34" charset="-127"/>
                <a:ea typeface="Malgun Gothic" panose="020B0503020000020004" pitchFamily="34" charset="-127"/>
              </a:rPr>
              <a:t>Accelerated model training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dirty="0">
                <a:latin typeface="Malgun Gothic" panose="020B0503020000020004" pitchFamily="34" charset="-127"/>
                <a:ea typeface="Malgun Gothic" panose="020B0503020000020004" pitchFamily="34" charset="-127"/>
              </a:rPr>
              <a:t>Solving problems beyond classical computing</a:t>
            </a:r>
          </a:p>
        </p:txBody>
      </p:sp>
    </p:spTree>
    <p:extLst>
      <p:ext uri="{BB962C8B-B14F-4D97-AF65-F5344CB8AC3E}">
        <p14:creationId xmlns:p14="http://schemas.microsoft.com/office/powerpoint/2010/main" val="58380965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47C2EF53-6AFF-7ECE-4EB2-08B148292563}"/>
              </a:ext>
            </a:extLst>
          </p:cNvPr>
          <p:cNvSpPr/>
          <p:nvPr/>
        </p:nvSpPr>
        <p:spPr>
          <a:xfrm>
            <a:off x="1066800" y="457200"/>
            <a:ext cx="6492326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defTabSz="640048">
              <a:lnSpc>
                <a:spcPts val="3605"/>
              </a:lnSpc>
            </a:pPr>
            <a:r>
              <a:rPr lang="en-US" sz="2900" dirty="0">
                <a:latin typeface="Montserrat" pitchFamily="34" charset="0"/>
              </a:rPr>
              <a:t>Conclusion</a:t>
            </a:r>
            <a:endParaRPr lang="en-US" sz="29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C8A7503-4421-825D-2806-FD8D0C58B9C4}"/>
              </a:ext>
            </a:extLst>
          </p:cNvPr>
          <p:cNvSpPr txBox="1"/>
          <p:nvPr/>
        </p:nvSpPr>
        <p:spPr>
          <a:xfrm>
            <a:off x="746674" y="1261580"/>
            <a:ext cx="7711526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Heebo Light" pitchFamily="2" charset="-79"/>
                <a:cs typeface="Heebo Light" pitchFamily="2" charset="-79"/>
              </a:rPr>
              <a:t>Machine Learning is shaping the future of humanity.</a:t>
            </a:r>
          </a:p>
          <a:p>
            <a:endParaRPr lang="en-US" dirty="0">
              <a:latin typeface="Heebo Light" pitchFamily="2" charset="-79"/>
              <a:cs typeface="Heebo Light" pitchFamily="2" charset="-79"/>
            </a:endParaRPr>
          </a:p>
          <a:p>
            <a:r>
              <a:rPr lang="en-US" dirty="0">
                <a:latin typeface="Heebo Light" pitchFamily="2" charset="-79"/>
                <a:cs typeface="Heebo Light" pitchFamily="2" charset="-79"/>
              </a:rPr>
              <a:t>It gives us an opportunity to innovate across sectors.</a:t>
            </a:r>
          </a:p>
          <a:p>
            <a:endParaRPr lang="en-US" dirty="0">
              <a:latin typeface="Heebo Light" pitchFamily="2" charset="-79"/>
              <a:cs typeface="Heebo Light" pitchFamily="2" charset="-79"/>
            </a:endParaRPr>
          </a:p>
          <a:p>
            <a:r>
              <a:rPr lang="en-US" dirty="0">
                <a:latin typeface="Heebo Light" pitchFamily="2" charset="-79"/>
                <a:cs typeface="Heebo Light" pitchFamily="2" charset="-79"/>
              </a:rPr>
              <a:t>Its success depends on the data quality, ethical use, and domain integration.</a:t>
            </a:r>
          </a:p>
          <a:p>
            <a:endParaRPr lang="en-US" dirty="0">
              <a:latin typeface="Heebo Light" pitchFamily="2" charset="-79"/>
              <a:cs typeface="Heebo Light" pitchFamily="2" charset="-79"/>
            </a:endParaRPr>
          </a:p>
          <a:p>
            <a:r>
              <a:rPr lang="en-US" dirty="0">
                <a:latin typeface="Heebo Light" pitchFamily="2" charset="-79"/>
                <a:cs typeface="Heebo Light" pitchFamily="2" charset="-79"/>
              </a:rPr>
              <a:t>The real power of ML is not replacing humans, but in augmenting human potential.</a:t>
            </a:r>
          </a:p>
          <a:p>
            <a:endParaRPr lang="en-US" dirty="0">
              <a:latin typeface="Heebo Light" pitchFamily="2" charset="-79"/>
              <a:cs typeface="Heebo Light" pitchFamily="2" charset="-79"/>
            </a:endParaRPr>
          </a:p>
          <a:p>
            <a:endParaRPr lang="en-US" dirty="0">
              <a:latin typeface="Heebo Light" pitchFamily="2" charset="-79"/>
              <a:cs typeface="Heebo Light" pitchFamily="2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1943131755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Damask">
  <a:themeElements>
    <a:clrScheme name="Damask">
      <a:dk1>
        <a:sysClr val="windowText" lastClr="000000"/>
      </a:dk1>
      <a:lt1>
        <a:sysClr val="window" lastClr="FFFFFF"/>
      </a:lt1>
      <a:dk2>
        <a:srgbClr val="2A5B7F"/>
      </a:dk2>
      <a:lt2>
        <a:srgbClr val="ABDAFC"/>
      </a:lt2>
      <a:accent1>
        <a:srgbClr val="9EC544"/>
      </a:accent1>
      <a:accent2>
        <a:srgbClr val="50BEA3"/>
      </a:accent2>
      <a:accent3>
        <a:srgbClr val="4A9CCC"/>
      </a:accent3>
      <a:accent4>
        <a:srgbClr val="9A66CA"/>
      </a:accent4>
      <a:accent5>
        <a:srgbClr val="C54F71"/>
      </a:accent5>
      <a:accent6>
        <a:srgbClr val="DE9C3C"/>
      </a:accent6>
      <a:hlink>
        <a:srgbClr val="6BA9DA"/>
      </a:hlink>
      <a:folHlink>
        <a:srgbClr val="A0BCD3"/>
      </a:folHlink>
    </a:clrScheme>
    <a:fontScheme name="Damask">
      <a:majorFont>
        <a:latin typeface="Bookman Old Style" panose="02050604050505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Rockwell" panose="020606030202050204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amask">
      <a:fillStyleLst>
        <a:solidFill>
          <a:schemeClr val="phClr"/>
        </a:solidFill>
        <a:gradFill rotWithShape="1">
          <a:gsLst>
            <a:gs pos="0">
              <a:schemeClr val="phClr">
                <a:tint val="48000"/>
                <a:satMod val="105000"/>
                <a:lumMod val="110000"/>
              </a:schemeClr>
            </a:gs>
            <a:gs pos="100000">
              <a:schemeClr val="phClr">
                <a:tint val="78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0000"/>
                <a:lumMod val="104000"/>
              </a:schemeClr>
            </a:gs>
            <a:gs pos="69000">
              <a:schemeClr val="phClr">
                <a:shade val="86000"/>
                <a:satMod val="130000"/>
                <a:lumMod val="102000"/>
              </a:schemeClr>
            </a:gs>
            <a:gs pos="100000">
              <a:schemeClr val="phClr">
                <a:shade val="72000"/>
                <a:satMod val="130000"/>
                <a:lumMod val="100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sy="96000" rotWithShape="0">
              <a:srgbClr val="000000">
                <a:alpha val="54000"/>
              </a:srgbClr>
            </a:outerShdw>
          </a:effectLst>
        </a:effectStyle>
        <a:effectStyle>
          <a:effectLst>
            <a:outerShdw blurRad="76200" dist="38100" dir="5400000" algn="ctr" rotWithShape="0">
              <a:srgbClr val="000000">
                <a:alpha val="76000"/>
              </a:srgbClr>
            </a:outerShdw>
          </a:effectLst>
          <a:scene3d>
            <a:camera prst="orthographicFront">
              <a:rot lat="0" lon="0" rev="0"/>
            </a:camera>
            <a:lightRig rig="balanced" dir="t"/>
          </a:scene3d>
          <a:sp3d prstMaterial="matte">
            <a:bevelT w="25400" h="25400" prst="relaxedInse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shade val="18000"/>
                <a:satMod val="160000"/>
                <a:lumMod val="28000"/>
              </a:schemeClr>
              <a:schemeClr val="phClr">
                <a:tint val="95000"/>
                <a:satMod val="160000"/>
                <a:lumMod val="116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mask" id="{F9A299A0-33D0-4E0F-9F3F-7163E3744208}" vid="{746EEEEA-FB6A-406B-B510-531588D5481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TM04033921[[fn=Damask]]</Template>
  <TotalTime>410</TotalTime>
  <Words>1457</Words>
  <Application>Microsoft Office PowerPoint</Application>
  <PresentationFormat>On-screen Show (4:3)</PresentationFormat>
  <Paragraphs>196</Paragraphs>
  <Slides>15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6" baseType="lpstr">
      <vt:lpstr>Malgun Gothic</vt:lpstr>
      <vt:lpstr>Aptos</vt:lpstr>
      <vt:lpstr>Arial</vt:lpstr>
      <vt:lpstr>Bookman Old Style</vt:lpstr>
      <vt:lpstr>Calibri</vt:lpstr>
      <vt:lpstr>Google Sans</vt:lpstr>
      <vt:lpstr>Heebo</vt:lpstr>
      <vt:lpstr>Heebo Light</vt:lpstr>
      <vt:lpstr>Montserrat</vt:lpstr>
      <vt:lpstr>Rockwell</vt:lpstr>
      <vt:lpstr>Damask</vt:lpstr>
      <vt:lpstr>Introduction to Machine Learning</vt:lpstr>
      <vt:lpstr>What is Machine Learning</vt:lpstr>
      <vt:lpstr>PowerPoint Presentation</vt:lpstr>
      <vt:lpstr>When Do We Use ML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Machine Learning</dc:title>
  <dc:creator>user</dc:creator>
  <cp:lastModifiedBy>Nikhil Prasad</cp:lastModifiedBy>
  <cp:revision>12</cp:revision>
  <dcterms:created xsi:type="dcterms:W3CDTF">2025-06-26T06:35:47Z</dcterms:created>
  <dcterms:modified xsi:type="dcterms:W3CDTF">2025-07-06T10:48:41Z</dcterms:modified>
</cp:coreProperties>
</file>